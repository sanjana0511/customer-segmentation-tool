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6"/>
  </p:notesMasterIdLst>
  <p:handoutMasterIdLst>
    <p:handoutMasterId r:id="rId57"/>
  </p:handoutMasterIdLst>
  <p:sldIdLst>
    <p:sldId id="317" r:id="rId5"/>
    <p:sldId id="318" r:id="rId6"/>
    <p:sldId id="307" r:id="rId7"/>
    <p:sldId id="263" r:id="rId8"/>
    <p:sldId id="310" r:id="rId9"/>
    <p:sldId id="319" r:id="rId10"/>
    <p:sldId id="311" r:id="rId11"/>
    <p:sldId id="320" r:id="rId12"/>
    <p:sldId id="321" r:id="rId13"/>
    <p:sldId id="322" r:id="rId14"/>
    <p:sldId id="327" r:id="rId15"/>
    <p:sldId id="324" r:id="rId16"/>
    <p:sldId id="328" r:id="rId17"/>
    <p:sldId id="326" r:id="rId18"/>
    <p:sldId id="329" r:id="rId19"/>
    <p:sldId id="325" r:id="rId20"/>
    <p:sldId id="330" r:id="rId21"/>
    <p:sldId id="331" r:id="rId22"/>
    <p:sldId id="332" r:id="rId23"/>
    <p:sldId id="333" r:id="rId24"/>
    <p:sldId id="345" r:id="rId25"/>
    <p:sldId id="346" r:id="rId26"/>
    <p:sldId id="347" r:id="rId27"/>
    <p:sldId id="351" r:id="rId28"/>
    <p:sldId id="353" r:id="rId29"/>
    <p:sldId id="352" r:id="rId30"/>
    <p:sldId id="354" r:id="rId31"/>
    <p:sldId id="334" r:id="rId32"/>
    <p:sldId id="336" r:id="rId33"/>
    <p:sldId id="335" r:id="rId34"/>
    <p:sldId id="362" r:id="rId35"/>
    <p:sldId id="337" r:id="rId36"/>
    <p:sldId id="339" r:id="rId37"/>
    <p:sldId id="363" r:id="rId38"/>
    <p:sldId id="340" r:id="rId39"/>
    <p:sldId id="342" r:id="rId40"/>
    <p:sldId id="341" r:id="rId41"/>
    <p:sldId id="343" r:id="rId42"/>
    <p:sldId id="344" r:id="rId43"/>
    <p:sldId id="348" r:id="rId44"/>
    <p:sldId id="349" r:id="rId45"/>
    <p:sldId id="350" r:id="rId46"/>
    <p:sldId id="355" r:id="rId47"/>
    <p:sldId id="364" r:id="rId48"/>
    <p:sldId id="356" r:id="rId49"/>
    <p:sldId id="357" r:id="rId50"/>
    <p:sldId id="358" r:id="rId51"/>
    <p:sldId id="359" r:id="rId52"/>
    <p:sldId id="360" r:id="rId53"/>
    <p:sldId id="361" r:id="rId54"/>
    <p:sldId id="30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60" d="100"/>
          <a:sy n="60" d="100"/>
        </p:scale>
        <p:origin x="908" y="4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12/29/2024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12/29/2024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2.xml"/><Relationship Id="rId4" Type="http://schemas.openxmlformats.org/officeDocument/2006/relationships/image" Target="../media/image24.jpeg"/></Relationships>
</file>

<file path=ppt/slides/_rels/slide4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4800" dirty="0">
                <a:solidFill>
                  <a:schemeClr val="tx1"/>
                </a:solidFill>
              </a:rPr>
              <a:t>CUSTOMER SEGMENTATION ANALYSIS FOR IMPROVING SALES USING CLUSTERING</a:t>
            </a:r>
            <a:br>
              <a:rPr lang="en-US" sz="4800" dirty="0">
                <a:solidFill>
                  <a:schemeClr val="tx1"/>
                </a:solidFill>
              </a:rPr>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A0172-4417-31A1-58FC-D47F11CAC3E6}"/>
              </a:ext>
            </a:extLst>
          </p:cNvPr>
          <p:cNvSpPr>
            <a:spLocks noGrp="1"/>
          </p:cNvSpPr>
          <p:nvPr>
            <p:ph type="ctrTitle"/>
          </p:nvPr>
        </p:nvSpPr>
        <p:spPr>
          <a:xfrm>
            <a:off x="914400" y="914400"/>
            <a:ext cx="10143460" cy="5029200"/>
          </a:xfrm>
        </p:spPr>
        <p:txBody>
          <a:bodyPr/>
          <a:lstStyle/>
          <a:p>
            <a:pPr algn="ctr"/>
            <a:r>
              <a:rPr lang="en-US" sz="5400" dirty="0"/>
              <a:t>REVIEW -1</a:t>
            </a:r>
          </a:p>
        </p:txBody>
      </p:sp>
    </p:spTree>
    <p:extLst>
      <p:ext uri="{BB962C8B-B14F-4D97-AF65-F5344CB8AC3E}">
        <p14:creationId xmlns:p14="http://schemas.microsoft.com/office/powerpoint/2010/main" val="386701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357686" y="584790"/>
            <a:ext cx="5641848" cy="5029200"/>
          </a:xfrm>
        </p:spPr>
        <p:txBody>
          <a:bodyPr/>
          <a:lstStyle/>
          <a:p>
            <a:r>
              <a:rPr lang="en-US" dirty="0"/>
              <a:t>TOPICS</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2613914051"/>
              </p:ext>
            </p:extLst>
          </p:nvPr>
        </p:nvGraphicFramePr>
        <p:xfrm>
          <a:off x="6999534" y="451884"/>
          <a:ext cx="4190999" cy="3684497"/>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7482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j-lt"/>
                          <a:cs typeface="Gill Sans Light" panose="020B0302020104020203" pitchFamily="34" charset="-79"/>
                        </a:rPr>
                        <a:t>INTRODUCTION</a:t>
                      </a:r>
                    </a:p>
                  </a:txBody>
                  <a:tcPr anchor="ct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704441">
                <a:tc>
                  <a:txBody>
                    <a:bodyPr/>
                    <a:lstStyle/>
                    <a:p>
                      <a:pPr algn="r"/>
                      <a:r>
                        <a:rPr lang="en-US" sz="2400" b="0" dirty="0">
                          <a:latin typeface="+mj-lt"/>
                        </a:rPr>
                        <a:t>ABSTRACT</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718816">
                <a:tc>
                  <a:txBody>
                    <a:bodyPr/>
                    <a:lstStyle/>
                    <a:p>
                      <a:pPr algn="r"/>
                      <a:r>
                        <a:rPr lang="en-US" sz="2400" b="0" dirty="0">
                          <a:latin typeface="+mj-lt"/>
                        </a:rPr>
                        <a:t>LITERATURE SURVEY</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69006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j-lt"/>
                          <a:cs typeface="Gill Sans Light" panose="020B0302020104020203" pitchFamily="34" charset="-79"/>
                        </a:rPr>
                        <a:t>EXSISTING SYSTEM</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748216">
                <a:tc>
                  <a:txBody>
                    <a:bodyPr/>
                    <a:lstStyle/>
                    <a:p>
                      <a:pPr marL="0" marR="0" lvl="0" indent="0" algn="r" defTabSz="914400" rtl="0" eaLnBrk="1" fontAlgn="auto" latinLnBrk="0" hangingPunct="1">
                        <a:lnSpc>
                          <a:spcPct val="100000"/>
                        </a:lnSpc>
                        <a:spcBef>
                          <a:spcPts val="0"/>
                        </a:spcBef>
                        <a:spcAft>
                          <a:spcPts val="0"/>
                        </a:spcAft>
                        <a:buClrTx/>
                        <a:buSzTx/>
                        <a:buFont typeface="+mj-lt"/>
                        <a:buNone/>
                        <a:tabLst/>
                        <a:defRPr/>
                      </a:pPr>
                      <a:r>
                        <a:rPr lang="en-US" sz="2400" b="0" dirty="0">
                          <a:latin typeface="+mj-lt"/>
                          <a:cs typeface="Gill Sans Light" panose="020B0302020104020203" pitchFamily="34" charset="-79"/>
                        </a:rPr>
                        <a:t>DISADVANTAGES OF EXSISTING SYTEM</a:t>
                      </a:r>
                    </a:p>
                  </a:txBody>
                  <a:tcPr anchor="ctr">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
        <p:nvSpPr>
          <p:cNvPr id="3" name="TextBox 2">
            <a:extLst>
              <a:ext uri="{FF2B5EF4-FFF2-40B4-BE49-F238E27FC236}">
                <a16:creationId xmlns:a16="http://schemas.microsoft.com/office/drawing/2014/main" id="{0D53659C-D934-37AE-829E-9E43CFB71374}"/>
              </a:ext>
            </a:extLst>
          </p:cNvPr>
          <p:cNvSpPr txBox="1"/>
          <p:nvPr/>
        </p:nvSpPr>
        <p:spPr>
          <a:xfrm>
            <a:off x="6999534" y="4019107"/>
            <a:ext cx="4190999" cy="1938992"/>
          </a:xfrm>
          <a:prstGeom prst="rect">
            <a:avLst/>
          </a:prstGeom>
          <a:noFill/>
        </p:spPr>
        <p:txBody>
          <a:bodyPr wrap="square" rtlCol="0">
            <a:spAutoFit/>
          </a:bodyPr>
          <a:lstStyle/>
          <a:p>
            <a:pPr algn="ctr"/>
            <a:r>
              <a:rPr lang="en-US" sz="2400" dirty="0">
                <a:latin typeface="+mj-lt"/>
              </a:rPr>
              <a:t>__________________________</a:t>
            </a:r>
          </a:p>
          <a:p>
            <a:pPr algn="r"/>
            <a:r>
              <a:rPr lang="en-US" sz="2400" dirty="0">
                <a:latin typeface="+mj-lt"/>
              </a:rPr>
              <a:t>PROPOSED SYSTEM</a:t>
            </a:r>
          </a:p>
          <a:p>
            <a:pPr algn="r"/>
            <a:r>
              <a:rPr lang="en-US" sz="2400" dirty="0">
                <a:latin typeface="+mj-lt"/>
              </a:rPr>
              <a:t>_________________________</a:t>
            </a:r>
          </a:p>
          <a:p>
            <a:pPr algn="r"/>
            <a:r>
              <a:rPr lang="en-US" sz="2400" dirty="0">
                <a:latin typeface="+mj-lt"/>
              </a:rPr>
              <a:t>ADVANTAGES OF PROPOSED SYSTEM</a:t>
            </a:r>
          </a:p>
        </p:txBody>
      </p:sp>
    </p:spTree>
    <p:extLst>
      <p:ext uri="{BB962C8B-B14F-4D97-AF65-F5344CB8AC3E}">
        <p14:creationId xmlns:p14="http://schemas.microsoft.com/office/powerpoint/2010/main" val="586478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US" dirty="0"/>
              <a:t>INTRODUCTION</a:t>
            </a:r>
          </a:p>
        </p:txBody>
      </p:sp>
    </p:spTree>
    <p:extLst>
      <p:ext uri="{BB962C8B-B14F-4D97-AF65-F5344CB8AC3E}">
        <p14:creationId xmlns:p14="http://schemas.microsoft.com/office/powerpoint/2010/main" val="109671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54911" y="138222"/>
            <a:ext cx="10360152" cy="627321"/>
          </a:xfrm>
        </p:spPr>
        <p:txBody>
          <a:bodyPr/>
          <a:lstStyle/>
          <a:p>
            <a:r>
              <a:rPr lang="en-US" sz="3200" dirty="0"/>
              <a:t>INTRODUCTION</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754911" y="765543"/>
            <a:ext cx="10111563" cy="5318618"/>
          </a:xfrm>
        </p:spPr>
        <p:txBody>
          <a:bodyPr>
            <a:noAutofit/>
          </a:bodyPr>
          <a:lstStyle/>
          <a:p>
            <a:pPr marL="342900" indent="-342900">
              <a:buFont typeface="Arial" panose="020B0604020202020204" pitchFamily="34" charset="0"/>
              <a:buChar char="•"/>
            </a:pPr>
            <a:r>
              <a:rPr lang="en-US" sz="2800" dirty="0"/>
              <a:t>Effective body language enhances your message, making it more </a:t>
            </a:r>
            <a:r>
              <a:rPr lang="en-US" sz="2800" dirty="0" err="1"/>
              <a:t>i</a:t>
            </a:r>
            <a:r>
              <a:rPr lang="en-US" sz="2800" dirty="0"/>
              <a:t> Customer segmentation is the practice of dividing a company’s customers into groups that reflect similarity among customers in each group. </a:t>
            </a:r>
          </a:p>
          <a:p>
            <a:pPr marL="342900" indent="-342900">
              <a:buFont typeface="Arial" panose="020B0604020202020204" pitchFamily="34" charset="0"/>
              <a:buChar char="•"/>
            </a:pPr>
            <a:r>
              <a:rPr lang="en-US" sz="2800" dirty="0"/>
              <a:t>The goal of segmenting customers is to decide how to relate to customers in each segment in order to maximize the value of each customer to the business.</a:t>
            </a:r>
          </a:p>
          <a:p>
            <a:pPr marL="342900" indent="-342900">
              <a:buFont typeface="Arial" panose="020B0604020202020204" pitchFamily="34" charset="0"/>
              <a:buChar char="•"/>
            </a:pPr>
            <a:r>
              <a:rPr lang="en-US" sz="2800" dirty="0"/>
              <a:t>Customer segmentation has the potential to allow marketers to address each customer in the most effective way.</a:t>
            </a:r>
          </a:p>
          <a:p>
            <a:pPr marL="342900" indent="-342900">
              <a:buFont typeface="Arial" panose="020B0604020202020204" pitchFamily="34" charset="0"/>
              <a:buChar char="•"/>
            </a:pPr>
            <a:r>
              <a:rPr lang="en-US" sz="2800" dirty="0"/>
              <a:t>Packages : numpy, pandas, seaborn and matplotlib</a:t>
            </a:r>
          </a:p>
          <a:p>
            <a:pPr marL="342900" indent="-342900">
              <a:buFont typeface="Arial" panose="020B0604020202020204" pitchFamily="34" charset="0"/>
              <a:buChar char="•"/>
            </a:pPr>
            <a:r>
              <a:rPr lang="en-US" sz="2800" dirty="0"/>
              <a:t>Tools such as jupyter notebook to analyze and segment each individual customer.</a:t>
            </a:r>
          </a:p>
          <a:p>
            <a:pPr marL="342900" indent="-342900">
              <a:buFont typeface="Arial" panose="020B0604020202020204" pitchFamily="34" charset="0"/>
              <a:buChar char="•"/>
            </a:pPr>
            <a:r>
              <a:rPr lang="en-US" sz="2800" dirty="0"/>
              <a:t>It is based on four important attribute i.e. ‘age’, ‘gender’, ‘income’, and ‘spending score’.</a:t>
            </a:r>
          </a:p>
        </p:txBody>
      </p:sp>
      <p:sp>
        <p:nvSpPr>
          <p:cNvPr id="4" name="TextBox 3">
            <a:extLst>
              <a:ext uri="{FF2B5EF4-FFF2-40B4-BE49-F238E27FC236}">
                <a16:creationId xmlns:a16="http://schemas.microsoft.com/office/drawing/2014/main" id="{FE73BC07-AF02-9FFC-8ED4-F1415EEA3671}"/>
              </a:ext>
            </a:extLst>
          </p:cNvPr>
          <p:cNvSpPr txBox="1"/>
          <p:nvPr/>
        </p:nvSpPr>
        <p:spPr>
          <a:xfrm>
            <a:off x="11366205" y="6084161"/>
            <a:ext cx="414669" cy="461665"/>
          </a:xfrm>
          <a:prstGeom prst="rect">
            <a:avLst/>
          </a:prstGeom>
          <a:noFill/>
        </p:spPr>
        <p:txBody>
          <a:bodyPr wrap="square" rtlCol="0">
            <a:spAutoFit/>
          </a:bodyPr>
          <a:lstStyle/>
          <a:p>
            <a:r>
              <a:rPr lang="en-US" sz="2400" dirty="0">
                <a:latin typeface="+mj-lt"/>
              </a:rPr>
              <a:t>5</a:t>
            </a:r>
          </a:p>
        </p:txBody>
      </p:sp>
    </p:spTree>
    <p:extLst>
      <p:ext uri="{BB962C8B-B14F-4D97-AF65-F5344CB8AC3E}">
        <p14:creationId xmlns:p14="http://schemas.microsoft.com/office/powerpoint/2010/main" val="4230106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BE714-7902-B1EC-88B1-D9E93C69E877}"/>
              </a:ext>
            </a:extLst>
          </p:cNvPr>
          <p:cNvSpPr>
            <a:spLocks noGrp="1"/>
          </p:cNvSpPr>
          <p:nvPr>
            <p:ph type="title"/>
          </p:nvPr>
        </p:nvSpPr>
        <p:spPr>
          <a:xfrm>
            <a:off x="1137683" y="765544"/>
            <a:ext cx="10360152" cy="2843784"/>
          </a:xfrm>
        </p:spPr>
        <p:txBody>
          <a:bodyPr/>
          <a:lstStyle/>
          <a:p>
            <a:r>
              <a:rPr lang="en-US" dirty="0"/>
              <a:t>ABSTRACT</a:t>
            </a:r>
          </a:p>
        </p:txBody>
      </p:sp>
    </p:spTree>
    <p:extLst>
      <p:ext uri="{BB962C8B-B14F-4D97-AF65-F5344CB8AC3E}">
        <p14:creationId xmlns:p14="http://schemas.microsoft.com/office/powerpoint/2010/main" val="2319822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915924" y="231577"/>
            <a:ext cx="10360152" cy="595423"/>
          </a:xfrm>
        </p:spPr>
        <p:txBody>
          <a:bodyPr/>
          <a:lstStyle/>
          <a:p>
            <a:r>
              <a:rPr lang="en-US" dirty="0"/>
              <a:t>ABSTRACT</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712380" y="1031358"/>
            <a:ext cx="9983973" cy="5595065"/>
          </a:xfrm>
        </p:spPr>
        <p:txBody>
          <a:bodyPr>
            <a:noAutofit/>
          </a:bodyPr>
          <a:lstStyle/>
          <a:p>
            <a:pPr marL="515070" indent="-285750">
              <a:lnSpc>
                <a:spcPct val="100000"/>
              </a:lnSpc>
              <a:buFont typeface="Arial" panose="020B0604020202020204" pitchFamily="34" charset="0"/>
              <a:buChar char="•"/>
            </a:pPr>
            <a:r>
              <a:rPr lang="en-IN" sz="1800" b="0" strike="noStrike" spc="-1" dirty="0">
                <a:ea typeface="Arial"/>
              </a:rPr>
              <a:t> Customer segmentation is useful in understanding what demographic and psychographic sub-population there are within your customers in a business case. </a:t>
            </a:r>
          </a:p>
          <a:p>
            <a:pPr marL="515070" indent="-285750">
              <a:lnSpc>
                <a:spcPct val="100000"/>
              </a:lnSpc>
              <a:buFont typeface="Arial" panose="020B0604020202020204" pitchFamily="34" charset="0"/>
              <a:buChar char="•"/>
            </a:pPr>
            <a:r>
              <a:rPr lang="en-IN" sz="1800" b="0" strike="noStrike" spc="-1" dirty="0">
                <a:ea typeface="Arial"/>
              </a:rPr>
              <a:t>By understanding this, we can better understand how to market and serve them. The segmentation is based on customers having similar ‘needs’(so that a single whole product can satisfy them) and ‘buying characteristics’(responses to messaging, marketing channels, and sales channels, that a single go- to-market approach can be used to sell to them competitively and economically).  </a:t>
            </a:r>
          </a:p>
          <a:p>
            <a:pPr marL="515070" indent="-285750">
              <a:lnSpc>
                <a:spcPct val="100000"/>
              </a:lnSpc>
              <a:buFont typeface="Arial" panose="020B0604020202020204" pitchFamily="34" charset="0"/>
              <a:buChar char="•"/>
            </a:pPr>
            <a:r>
              <a:rPr lang="en-IN" sz="1800" b="0" strike="noStrike" spc="-1" dirty="0">
                <a:ea typeface="Arial"/>
              </a:rPr>
              <a:t>In this project we will explore a data set on customers to try to see if there are any discernible segments and patterns.</a:t>
            </a:r>
          </a:p>
          <a:p>
            <a:pPr marL="515070" indent="-285750">
              <a:lnSpc>
                <a:spcPct val="100000"/>
              </a:lnSpc>
              <a:buFont typeface="Arial" panose="020B0604020202020204" pitchFamily="34" charset="0"/>
              <a:buChar char="•"/>
            </a:pPr>
            <a:r>
              <a:rPr lang="en-IN" sz="1800" b="0" strike="noStrike" spc="-1" dirty="0">
                <a:ea typeface="Arial"/>
              </a:rPr>
              <a:t> The goal of segmenting customers is to decide how to relate to customers in each segment in order to maximize the value of each customer to the business and to build a simple, easy to use and efficient interface. </a:t>
            </a:r>
          </a:p>
          <a:p>
            <a:pPr marL="515070" indent="-285750">
              <a:lnSpc>
                <a:spcPct val="100000"/>
              </a:lnSpc>
              <a:buFont typeface="Arial" panose="020B0604020202020204" pitchFamily="34" charset="0"/>
              <a:buChar char="•"/>
            </a:pPr>
            <a:r>
              <a:rPr lang="en-IN" sz="1800" b="0" strike="noStrike" spc="-1" dirty="0">
                <a:ea typeface="Arial"/>
              </a:rPr>
              <a:t>The technologies that will be used in this project are packages such as numpy, panda, seaborn and matplotlib. Tools such as jupyter notebook will be used to analyze and segment each individual customer. </a:t>
            </a:r>
          </a:p>
          <a:p>
            <a:pPr marL="515070" indent="-285750">
              <a:lnSpc>
                <a:spcPct val="100000"/>
              </a:lnSpc>
              <a:buFont typeface="Arial" panose="020B0604020202020204" pitchFamily="34" charset="0"/>
              <a:buChar char="•"/>
            </a:pPr>
            <a:r>
              <a:rPr lang="en-IN" sz="1800" b="0" strike="noStrike" spc="-1" dirty="0">
                <a:ea typeface="Arial"/>
              </a:rPr>
              <a:t>Segmentation will be based on three important attributes : ‘gender’, ‘income’ , ‘age’ and ‘spending score’</a:t>
            </a:r>
            <a:endParaRPr lang="en-IN" sz="1800" b="0" strike="noStrike" spc="-1" dirty="0"/>
          </a:p>
          <a:p>
            <a:pPr marL="515070" indent="-285750">
              <a:lnSpc>
                <a:spcPct val="100000"/>
              </a:lnSpc>
              <a:buFont typeface="Arial" panose="020B0604020202020204" pitchFamily="34" charset="0"/>
              <a:buChar char="•"/>
            </a:pPr>
            <a:endParaRPr lang="en-IN" sz="1800" b="0" strike="noStrike" spc="-1" dirty="0"/>
          </a:p>
          <a:p>
            <a:pPr marL="515070" indent="-285750">
              <a:lnSpc>
                <a:spcPct val="100000"/>
              </a:lnSpc>
              <a:buFont typeface="Arial" panose="020B0604020202020204" pitchFamily="34" charset="0"/>
              <a:buChar char="•"/>
            </a:pPr>
            <a:endParaRPr lang="en-IN" sz="1800" b="0" strike="noStrike" spc="-1" dirty="0"/>
          </a:p>
          <a:p>
            <a:pPr marL="342900" indent="-342900">
              <a:buFont typeface="Arial" panose="020B0604020202020204" pitchFamily="34" charset="0"/>
              <a:buChar char="•"/>
            </a:pPr>
            <a:endParaRPr lang="en-US" sz="1800"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2E0C6-923B-11DB-BC8B-E169165B9FB2}"/>
              </a:ext>
            </a:extLst>
          </p:cNvPr>
          <p:cNvSpPr>
            <a:spLocks noGrp="1"/>
          </p:cNvSpPr>
          <p:nvPr>
            <p:ph type="title"/>
          </p:nvPr>
        </p:nvSpPr>
        <p:spPr>
          <a:xfrm>
            <a:off x="1275907" y="1041991"/>
            <a:ext cx="10360152" cy="2843784"/>
          </a:xfrm>
        </p:spPr>
        <p:txBody>
          <a:bodyPr/>
          <a:lstStyle/>
          <a:p>
            <a:r>
              <a:rPr lang="en-US" dirty="0"/>
              <a:t>LITERATURE SURVEY</a:t>
            </a:r>
          </a:p>
        </p:txBody>
      </p:sp>
    </p:spTree>
    <p:extLst>
      <p:ext uri="{BB962C8B-B14F-4D97-AF65-F5344CB8AC3E}">
        <p14:creationId xmlns:p14="http://schemas.microsoft.com/office/powerpoint/2010/main" val="2092961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E66ED-4DE3-439A-7463-6EC4B7974C9C}"/>
              </a:ext>
            </a:extLst>
          </p:cNvPr>
          <p:cNvSpPr>
            <a:spLocks noGrp="1"/>
          </p:cNvSpPr>
          <p:nvPr>
            <p:ph type="title"/>
          </p:nvPr>
        </p:nvSpPr>
        <p:spPr>
          <a:xfrm>
            <a:off x="691117" y="287079"/>
            <a:ext cx="10360152" cy="627321"/>
          </a:xfrm>
        </p:spPr>
        <p:txBody>
          <a:bodyPr/>
          <a:lstStyle/>
          <a:p>
            <a:r>
              <a:rPr lang="en-US" dirty="0"/>
              <a:t>LITERATURE SURVEY</a:t>
            </a:r>
          </a:p>
        </p:txBody>
      </p:sp>
      <p:sp>
        <p:nvSpPr>
          <p:cNvPr id="3" name="Content Placeholder 2">
            <a:extLst>
              <a:ext uri="{FF2B5EF4-FFF2-40B4-BE49-F238E27FC236}">
                <a16:creationId xmlns:a16="http://schemas.microsoft.com/office/drawing/2014/main" id="{C6BF6D23-6106-70AD-132F-8ABA81022DD9}"/>
              </a:ext>
            </a:extLst>
          </p:cNvPr>
          <p:cNvSpPr>
            <a:spLocks noGrp="1"/>
          </p:cNvSpPr>
          <p:nvPr>
            <p:ph sz="quarter" idx="13"/>
          </p:nvPr>
        </p:nvSpPr>
        <p:spPr>
          <a:xfrm>
            <a:off x="581495" y="1454322"/>
            <a:ext cx="10579396" cy="5403678"/>
          </a:xfrm>
        </p:spPr>
        <p:txBody>
          <a:bodyPr>
            <a:normAutofit/>
          </a:bodyPr>
          <a:lstStyle/>
          <a:p>
            <a:pPr marL="342900" indent="-342900">
              <a:buFont typeface="Wingdings" panose="05000000000000000000" pitchFamily="2" charset="2"/>
              <a:buChar char="§"/>
            </a:pPr>
            <a:r>
              <a:rPr lang="en-US" dirty="0"/>
              <a:t>Research on attributes of shopping malls and hypermarkets in India is limited, with most studies focusing on foreign experiences in the US, UK, and European markets.</a:t>
            </a:r>
          </a:p>
          <a:p>
            <a:pPr marL="342900" indent="-342900">
              <a:buFont typeface="Wingdings" panose="05000000000000000000" pitchFamily="2" charset="2"/>
              <a:buChar char="§"/>
            </a:pPr>
            <a:r>
              <a:rPr lang="en-US" dirty="0"/>
              <a:t>An earnest attempt has been made to delve into the relevant researches done on the theme, presented henceforth as</a:t>
            </a:r>
          </a:p>
          <a:p>
            <a:pPr marL="342900" indent="-342900">
              <a:buFont typeface="Wingdings" panose="05000000000000000000" pitchFamily="2" charset="2"/>
              <a:buChar char="§"/>
            </a:pPr>
            <a:r>
              <a:rPr lang="en-US" dirty="0"/>
              <a:t>follows: </a:t>
            </a:r>
          </a:p>
          <a:p>
            <a:pPr marL="342900" indent="-342900">
              <a:buFont typeface="Wingdings" panose="05000000000000000000" pitchFamily="2" charset="2"/>
              <a:buChar char="§"/>
            </a:pPr>
            <a:r>
              <a:rPr lang="en-US" b="1" dirty="0"/>
              <a:t>Brunner and Mason's</a:t>
            </a:r>
            <a:r>
              <a:rPr lang="en-US" dirty="0"/>
              <a:t> 1968 study found that driving time is a significant factor in consumer shopping center preferences, with 15-minute driving points being the most significant dimension, as three-fourths of shoppers reside within this range. Other factors like population, purchasing power, and newspaper circulation also influence shopping habits.</a:t>
            </a:r>
          </a:p>
          <a:p>
            <a:pPr marL="342900" indent="-342900">
              <a:buFont typeface="Wingdings" panose="05000000000000000000" pitchFamily="2" charset="2"/>
              <a:buChar char="§"/>
            </a:pPr>
            <a:r>
              <a:rPr lang="en-US" b="1" dirty="0"/>
              <a:t>Huff</a:t>
            </a:r>
            <a:r>
              <a:rPr lang="en-US" dirty="0"/>
              <a:t> (1964 and 1966) concluded that the comparative size of the centers and the convenience of access were the primary characteristics that consumers sought when choosing a shopping center to visit</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p:txBody>
      </p:sp>
      <p:sp>
        <p:nvSpPr>
          <p:cNvPr id="5" name="Slide Number Placeholder 4">
            <a:extLst>
              <a:ext uri="{FF2B5EF4-FFF2-40B4-BE49-F238E27FC236}">
                <a16:creationId xmlns:a16="http://schemas.microsoft.com/office/drawing/2014/main" id="{958DE595-BCF0-07B2-0275-57783715136A}"/>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4201543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9E24-7270-EDF6-1846-608B284F928B}"/>
              </a:ext>
            </a:extLst>
          </p:cNvPr>
          <p:cNvSpPr>
            <a:spLocks noGrp="1"/>
          </p:cNvSpPr>
          <p:nvPr>
            <p:ph type="title"/>
          </p:nvPr>
        </p:nvSpPr>
        <p:spPr>
          <a:xfrm>
            <a:off x="1180214" y="2402957"/>
            <a:ext cx="10360152" cy="1291431"/>
          </a:xfrm>
        </p:spPr>
        <p:txBody>
          <a:bodyPr/>
          <a:lstStyle/>
          <a:p>
            <a:r>
              <a:rPr lang="en-US" dirty="0"/>
              <a:t>EXSISTING SYSTEM</a:t>
            </a:r>
          </a:p>
        </p:txBody>
      </p:sp>
    </p:spTree>
    <p:extLst>
      <p:ext uri="{BB962C8B-B14F-4D97-AF65-F5344CB8AC3E}">
        <p14:creationId xmlns:p14="http://schemas.microsoft.com/office/powerpoint/2010/main" val="3455016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CC764-FEEC-7A0F-35AA-232FC39C0D6B}"/>
              </a:ext>
            </a:extLst>
          </p:cNvPr>
          <p:cNvSpPr>
            <a:spLocks noGrp="1"/>
          </p:cNvSpPr>
          <p:nvPr>
            <p:ph type="title"/>
          </p:nvPr>
        </p:nvSpPr>
        <p:spPr>
          <a:xfrm>
            <a:off x="915924" y="925031"/>
            <a:ext cx="10360152" cy="531628"/>
          </a:xfrm>
        </p:spPr>
        <p:txBody>
          <a:bodyPr/>
          <a:lstStyle/>
          <a:p>
            <a:r>
              <a:rPr lang="en-US" dirty="0"/>
              <a:t>EXSISTING SURVEY</a:t>
            </a:r>
          </a:p>
        </p:txBody>
      </p:sp>
      <p:sp>
        <p:nvSpPr>
          <p:cNvPr id="3" name="Content Placeholder 2">
            <a:extLst>
              <a:ext uri="{FF2B5EF4-FFF2-40B4-BE49-F238E27FC236}">
                <a16:creationId xmlns:a16="http://schemas.microsoft.com/office/drawing/2014/main" id="{EDD3C405-8260-A1AE-01F0-80466425DA25}"/>
              </a:ext>
            </a:extLst>
          </p:cNvPr>
          <p:cNvSpPr>
            <a:spLocks noGrp="1"/>
          </p:cNvSpPr>
          <p:nvPr>
            <p:ph sz="quarter" idx="13"/>
          </p:nvPr>
        </p:nvSpPr>
        <p:spPr>
          <a:xfrm>
            <a:off x="838200" y="1605515"/>
            <a:ext cx="10760150" cy="3593805"/>
          </a:xfrm>
        </p:spPr>
        <p:txBody>
          <a:bodyPr>
            <a:noAutofit/>
          </a:bodyPr>
          <a:lstStyle/>
          <a:p>
            <a:pPr marL="228960" indent="-457200">
              <a:lnSpc>
                <a:spcPct val="94000"/>
              </a:lnSpc>
              <a:buFont typeface="Wingdings" panose="05000000000000000000" pitchFamily="2" charset="2"/>
              <a:buChar char="§"/>
            </a:pPr>
            <a:endParaRPr lang="en-IN" sz="2800" b="0" strike="noStrike" spc="-1" dirty="0"/>
          </a:p>
          <a:p>
            <a:pPr marL="457920" indent="-457200">
              <a:lnSpc>
                <a:spcPct val="94000"/>
              </a:lnSpc>
              <a:buClr>
                <a:srgbClr val="191B0E"/>
              </a:buClr>
              <a:buFont typeface="Wingdings" panose="05000000000000000000" pitchFamily="2" charset="2"/>
              <a:buChar char="§"/>
            </a:pPr>
            <a:r>
              <a:rPr lang="en-IN" sz="2800" b="0" strike="noStrike" spc="-1" dirty="0">
                <a:ea typeface="Libre Franklin"/>
              </a:rPr>
              <a:t>All the existing systems use search based algorithms like </a:t>
            </a:r>
            <a:r>
              <a:rPr lang="en-IN" sz="2800" b="1" strike="noStrike" spc="-1" dirty="0">
                <a:ea typeface="Libre Franklin"/>
              </a:rPr>
              <a:t>fuzzy C-means, Gath Geva algorithm and Two step algorithm</a:t>
            </a:r>
            <a:endParaRPr lang="en-IN" sz="2800" b="1"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With these algorithms it is difficult to gather and segment the data</a:t>
            </a:r>
            <a:endParaRPr lang="en-IN" sz="2800" b="0"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The results are not really accurate as the clustering is not close enough to determine accurate centroids</a:t>
            </a:r>
            <a:endParaRPr lang="en-IN" sz="2800" b="0"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These algorithms are complicated when compared to </a:t>
            </a:r>
          </a:p>
          <a:p>
            <a:pPr marL="720" indent="0">
              <a:lnSpc>
                <a:spcPct val="94000"/>
              </a:lnSpc>
              <a:spcBef>
                <a:spcPts val="1202"/>
              </a:spcBef>
              <a:buClr>
                <a:srgbClr val="191B0E"/>
              </a:buClr>
              <a:buNone/>
            </a:pPr>
            <a:r>
              <a:rPr lang="en-IN" sz="2800" spc="-1" dirty="0">
                <a:ea typeface="Libre Franklin"/>
              </a:rPr>
              <a:t>      </a:t>
            </a:r>
            <a:r>
              <a:rPr lang="en-IN" sz="2800" b="1" strike="noStrike" spc="-1" dirty="0">
                <a:ea typeface="Libre Franklin"/>
              </a:rPr>
              <a:t>K-means</a:t>
            </a:r>
            <a:r>
              <a:rPr lang="en-IN" sz="2800" b="0" strike="noStrike" spc="-1" dirty="0">
                <a:ea typeface="Libre Franklin"/>
              </a:rPr>
              <a:t> </a:t>
            </a:r>
            <a:endParaRPr lang="en-IN" sz="2800" b="0" strike="noStrike" spc="-1" dirty="0"/>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endParaRPr lang="en-US" sz="2800" dirty="0"/>
          </a:p>
        </p:txBody>
      </p:sp>
      <p:sp>
        <p:nvSpPr>
          <p:cNvPr id="5" name="Slide Number Placeholder 4">
            <a:extLst>
              <a:ext uri="{FF2B5EF4-FFF2-40B4-BE49-F238E27FC236}">
                <a16:creationId xmlns:a16="http://schemas.microsoft.com/office/drawing/2014/main" id="{7AFB9F56-CBA9-A758-71DF-F5B3B9551F8C}"/>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3442777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CA056-EB3F-7298-9E59-E71F84ECCFBC}"/>
              </a:ext>
            </a:extLst>
          </p:cNvPr>
          <p:cNvSpPr>
            <a:spLocks noGrp="1"/>
          </p:cNvSpPr>
          <p:nvPr>
            <p:ph type="title"/>
          </p:nvPr>
        </p:nvSpPr>
        <p:spPr/>
        <p:txBody>
          <a:bodyPr/>
          <a:lstStyle/>
          <a:p>
            <a:r>
              <a:rPr lang="en-US" dirty="0"/>
              <a:t>DISADVANTAGES OF EXSISTING SYSTEM</a:t>
            </a:r>
          </a:p>
        </p:txBody>
      </p:sp>
    </p:spTree>
    <p:extLst>
      <p:ext uri="{BB962C8B-B14F-4D97-AF65-F5344CB8AC3E}">
        <p14:creationId xmlns:p14="http://schemas.microsoft.com/office/powerpoint/2010/main" val="527628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326F-E0EE-E7BF-CCAA-1A66AAB4E603}"/>
              </a:ext>
            </a:extLst>
          </p:cNvPr>
          <p:cNvSpPr>
            <a:spLocks noGrp="1"/>
          </p:cNvSpPr>
          <p:nvPr>
            <p:ph type="title"/>
          </p:nvPr>
        </p:nvSpPr>
        <p:spPr>
          <a:xfrm>
            <a:off x="914399" y="318976"/>
            <a:ext cx="10360152" cy="701749"/>
          </a:xfrm>
        </p:spPr>
        <p:txBody>
          <a:bodyPr/>
          <a:lstStyle/>
          <a:p>
            <a:r>
              <a:rPr lang="en-US" dirty="0"/>
              <a:t>DISADVANTAGES OF EXSISTING SYSTEM</a:t>
            </a:r>
          </a:p>
        </p:txBody>
      </p:sp>
      <p:sp>
        <p:nvSpPr>
          <p:cNvPr id="3" name="Content Placeholder 2">
            <a:extLst>
              <a:ext uri="{FF2B5EF4-FFF2-40B4-BE49-F238E27FC236}">
                <a16:creationId xmlns:a16="http://schemas.microsoft.com/office/drawing/2014/main" id="{D10FFD31-CFB2-42D7-B6FE-39E117D48E9B}"/>
              </a:ext>
            </a:extLst>
          </p:cNvPr>
          <p:cNvSpPr>
            <a:spLocks noGrp="1"/>
          </p:cNvSpPr>
          <p:nvPr>
            <p:ph sz="quarter" idx="13"/>
          </p:nvPr>
        </p:nvSpPr>
        <p:spPr>
          <a:xfrm>
            <a:off x="1031356" y="1316098"/>
            <a:ext cx="10132829" cy="3904488"/>
          </a:xfrm>
        </p:spPr>
        <p:txBody>
          <a:bodyPr>
            <a:noAutofit/>
          </a:bodyPr>
          <a:lstStyle/>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Expensive Production</a:t>
            </a:r>
            <a:endParaRPr lang="en-IN" sz="2800" b="0" strike="noStrike" spc="-1" dirty="0"/>
          </a:p>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Promotion Problems</a:t>
            </a:r>
            <a:endParaRPr lang="en-IN" sz="2800" b="0" strike="noStrike" spc="-1" dirty="0"/>
          </a:p>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Stock and Storage Problems</a:t>
            </a:r>
            <a:endParaRPr lang="en-IN" sz="2800" b="0" strike="noStrike" spc="-1" dirty="0"/>
          </a:p>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Expensive Marketing</a:t>
            </a:r>
            <a:endParaRPr lang="en-IN" sz="2800" b="0" strike="noStrike" spc="-1" dirty="0"/>
          </a:p>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Other clustering algorithms tend to be harder to implement efficiently because it has more parameters</a:t>
            </a:r>
            <a:endParaRPr lang="en-IN" sz="2800" b="0" strike="noStrike" spc="-1" dirty="0"/>
          </a:p>
          <a:p>
            <a:pPr marL="48348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Also, compared to many algorithms </a:t>
            </a:r>
            <a:r>
              <a:rPr lang="en-IN" sz="2800" b="0" strike="noStrike" spc="-1" dirty="0" err="1">
                <a:ea typeface="Libre Franklin"/>
              </a:rPr>
              <a:t>available,k</a:t>
            </a:r>
            <a:r>
              <a:rPr lang="en-IN" sz="2800" b="0" strike="noStrike" spc="-1" dirty="0">
                <a:ea typeface="Libre Franklin"/>
              </a:rPr>
              <a:t>-means did not require any assumptions</a:t>
            </a:r>
            <a:endParaRPr lang="en-IN" sz="2800" b="0" strike="noStrike" spc="-1" dirty="0"/>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endParaRPr lang="en-US" sz="2800" dirty="0"/>
          </a:p>
        </p:txBody>
      </p:sp>
      <p:sp>
        <p:nvSpPr>
          <p:cNvPr id="5" name="Slide Number Placeholder 4">
            <a:extLst>
              <a:ext uri="{FF2B5EF4-FFF2-40B4-BE49-F238E27FC236}">
                <a16:creationId xmlns:a16="http://schemas.microsoft.com/office/drawing/2014/main" id="{46E7096D-B98E-D944-FEDC-EF4129C7528C}"/>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2694364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028C-94B5-3F95-2012-514F48C90972}"/>
              </a:ext>
            </a:extLst>
          </p:cNvPr>
          <p:cNvSpPr>
            <a:spLocks noGrp="1"/>
          </p:cNvSpPr>
          <p:nvPr>
            <p:ph type="title"/>
          </p:nvPr>
        </p:nvSpPr>
        <p:spPr/>
        <p:txBody>
          <a:bodyPr/>
          <a:lstStyle/>
          <a:p>
            <a:r>
              <a:rPr lang="en-US" dirty="0"/>
              <a:t>PROPOSED SYSTEMS</a:t>
            </a:r>
          </a:p>
        </p:txBody>
      </p:sp>
    </p:spTree>
    <p:extLst>
      <p:ext uri="{BB962C8B-B14F-4D97-AF65-F5344CB8AC3E}">
        <p14:creationId xmlns:p14="http://schemas.microsoft.com/office/powerpoint/2010/main" val="204809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4689-B99E-42A1-C344-50DD49C4390F}"/>
              </a:ext>
            </a:extLst>
          </p:cNvPr>
          <p:cNvSpPr>
            <a:spLocks noGrp="1"/>
          </p:cNvSpPr>
          <p:nvPr>
            <p:ph type="title"/>
          </p:nvPr>
        </p:nvSpPr>
        <p:spPr>
          <a:xfrm>
            <a:off x="993648" y="584790"/>
            <a:ext cx="10360152" cy="701749"/>
          </a:xfrm>
        </p:spPr>
        <p:txBody>
          <a:bodyPr/>
          <a:lstStyle/>
          <a:p>
            <a:r>
              <a:rPr lang="en-US" dirty="0"/>
              <a:t>PROPOSED  SYSTEM</a:t>
            </a:r>
          </a:p>
        </p:txBody>
      </p:sp>
      <p:sp>
        <p:nvSpPr>
          <p:cNvPr id="3" name="Content Placeholder 2">
            <a:extLst>
              <a:ext uri="{FF2B5EF4-FFF2-40B4-BE49-F238E27FC236}">
                <a16:creationId xmlns:a16="http://schemas.microsoft.com/office/drawing/2014/main" id="{0C365EF6-9630-2EF6-76DB-51DB225F1907}"/>
              </a:ext>
            </a:extLst>
          </p:cNvPr>
          <p:cNvSpPr>
            <a:spLocks noGrp="1"/>
          </p:cNvSpPr>
          <p:nvPr>
            <p:ph sz="quarter" idx="13"/>
          </p:nvPr>
        </p:nvSpPr>
        <p:spPr>
          <a:xfrm>
            <a:off x="914399" y="1581912"/>
            <a:ext cx="10143461" cy="3904488"/>
          </a:xfrm>
        </p:spPr>
        <p:txBody>
          <a:bodyPr>
            <a:noAutofit/>
          </a:bodyPr>
          <a:lstStyle/>
          <a:p>
            <a:pPr marL="457920" indent="-457200">
              <a:lnSpc>
                <a:spcPct val="94000"/>
              </a:lnSpc>
              <a:buClr>
                <a:srgbClr val="191B0E"/>
              </a:buClr>
              <a:buFont typeface="Wingdings" panose="05000000000000000000" pitchFamily="2" charset="2"/>
              <a:buChar char="§"/>
            </a:pPr>
            <a:r>
              <a:rPr lang="en-IN" sz="2800" b="0" strike="noStrike" spc="-1" dirty="0">
                <a:ea typeface="Libre Franklin"/>
              </a:rPr>
              <a:t>Develop the system to get easy visualization techniques</a:t>
            </a:r>
            <a:endParaRPr lang="en-IN" sz="2800" b="0"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Increase the data set to accommodate many data points so that results will be more accurate</a:t>
            </a:r>
            <a:endParaRPr lang="en-IN" sz="2800" b="0"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Segment the products directly according to the customer group</a:t>
            </a:r>
            <a:endParaRPr lang="en-IN" sz="2800" b="0" strike="noStrike" spc="-1" dirty="0"/>
          </a:p>
          <a:p>
            <a:pPr marL="457920" indent="-457200">
              <a:lnSpc>
                <a:spcPct val="94000"/>
              </a:lnSpc>
              <a:spcBef>
                <a:spcPts val="1202"/>
              </a:spcBef>
              <a:buClr>
                <a:srgbClr val="191B0E"/>
              </a:buClr>
              <a:buFont typeface="Wingdings" panose="05000000000000000000" pitchFamily="2" charset="2"/>
              <a:buChar char="§"/>
            </a:pPr>
            <a:r>
              <a:rPr lang="en-IN" sz="2800" b="0" strike="noStrike" spc="-1" dirty="0">
                <a:ea typeface="Libre Franklin"/>
              </a:rPr>
              <a:t>Use different methods to collect the customer data instead of physical forms</a:t>
            </a:r>
            <a:endParaRPr lang="en-IN" sz="2800" b="0" strike="noStrike" spc="-1" dirty="0"/>
          </a:p>
          <a:p>
            <a:pPr marL="457200" indent="-457200">
              <a:buFont typeface="Wingdings" panose="05000000000000000000" pitchFamily="2" charset="2"/>
              <a:buChar char="§"/>
            </a:pPr>
            <a:endParaRPr lang="en-US" sz="2800" dirty="0"/>
          </a:p>
          <a:p>
            <a:pPr marL="457200" indent="-457200">
              <a:buFont typeface="Wingdings" panose="05000000000000000000" pitchFamily="2" charset="2"/>
              <a:buChar char="§"/>
            </a:pPr>
            <a:endParaRPr lang="en-US" sz="2800" dirty="0"/>
          </a:p>
        </p:txBody>
      </p:sp>
      <p:sp>
        <p:nvSpPr>
          <p:cNvPr id="5" name="Slide Number Placeholder 4">
            <a:extLst>
              <a:ext uri="{FF2B5EF4-FFF2-40B4-BE49-F238E27FC236}">
                <a16:creationId xmlns:a16="http://schemas.microsoft.com/office/drawing/2014/main" id="{11160706-F9DF-9E5E-D4FE-050A98013485}"/>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207520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B504-4DDB-4EA8-C10B-5170DD5B698E}"/>
              </a:ext>
            </a:extLst>
          </p:cNvPr>
          <p:cNvSpPr>
            <a:spLocks noGrp="1"/>
          </p:cNvSpPr>
          <p:nvPr>
            <p:ph type="title"/>
          </p:nvPr>
        </p:nvSpPr>
        <p:spPr/>
        <p:txBody>
          <a:bodyPr/>
          <a:lstStyle/>
          <a:p>
            <a:r>
              <a:rPr lang="en-US" dirty="0"/>
              <a:t>ADVANTAGES OF PROPOSED SYSTEM</a:t>
            </a:r>
          </a:p>
        </p:txBody>
      </p:sp>
    </p:spTree>
    <p:extLst>
      <p:ext uri="{BB962C8B-B14F-4D97-AF65-F5344CB8AC3E}">
        <p14:creationId xmlns:p14="http://schemas.microsoft.com/office/powerpoint/2010/main" val="2885032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A8BCD-090A-5721-9A74-EFE12CE37A7A}"/>
              </a:ext>
            </a:extLst>
          </p:cNvPr>
          <p:cNvSpPr>
            <a:spLocks noGrp="1"/>
          </p:cNvSpPr>
          <p:nvPr>
            <p:ph type="title"/>
          </p:nvPr>
        </p:nvSpPr>
        <p:spPr>
          <a:xfrm>
            <a:off x="914399" y="613924"/>
            <a:ext cx="10360152" cy="669851"/>
          </a:xfrm>
        </p:spPr>
        <p:txBody>
          <a:bodyPr/>
          <a:lstStyle/>
          <a:p>
            <a:r>
              <a:rPr lang="en-US" dirty="0"/>
              <a:t>ADVANTAGES OF PROPOSED SYSTEM</a:t>
            </a:r>
          </a:p>
        </p:txBody>
      </p:sp>
      <p:sp>
        <p:nvSpPr>
          <p:cNvPr id="3" name="Content Placeholder 2">
            <a:extLst>
              <a:ext uri="{FF2B5EF4-FFF2-40B4-BE49-F238E27FC236}">
                <a16:creationId xmlns:a16="http://schemas.microsoft.com/office/drawing/2014/main" id="{EF9BAACF-8287-F906-BAC8-108DF8D8DD23}"/>
              </a:ext>
            </a:extLst>
          </p:cNvPr>
          <p:cNvSpPr>
            <a:spLocks noGrp="1"/>
          </p:cNvSpPr>
          <p:nvPr>
            <p:ph sz="quarter" idx="13"/>
          </p:nvPr>
        </p:nvSpPr>
        <p:spPr>
          <a:xfrm>
            <a:off x="914399" y="1509823"/>
            <a:ext cx="10439401" cy="4369981"/>
          </a:xfrm>
        </p:spPr>
        <p:txBody>
          <a:bodyPr>
            <a:noAutofit/>
          </a:bodyPr>
          <a:lstStyle/>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Saves time and money</a:t>
            </a:r>
            <a:endParaRPr lang="en-IN" sz="3600" b="0" strike="noStrike" spc="-1" dirty="0"/>
          </a:p>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Convenient</a:t>
            </a:r>
            <a:endParaRPr lang="en-IN" sz="3600" b="0" strike="noStrike" spc="-1" dirty="0"/>
          </a:p>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Extends to new markets</a:t>
            </a:r>
            <a:endParaRPr lang="en-IN" sz="3600" b="0" strike="noStrike" spc="-1" dirty="0"/>
          </a:p>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Helps in gaining trust of customers</a:t>
            </a:r>
            <a:endParaRPr lang="en-IN" sz="3600" b="0" strike="noStrike" spc="-1" dirty="0"/>
          </a:p>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Flexible</a:t>
            </a:r>
            <a:endParaRPr lang="en-IN" sz="3600" b="0" strike="noStrike" spc="-1" dirty="0"/>
          </a:p>
          <a:p>
            <a:pPr marL="572220" indent="-571500">
              <a:lnSpc>
                <a:spcPct val="94000"/>
              </a:lnSpc>
              <a:spcBef>
                <a:spcPts val="1202"/>
              </a:spcBef>
              <a:buClr>
                <a:srgbClr val="191B0E"/>
              </a:buClr>
              <a:buFont typeface="Wingdings" panose="05000000000000000000" pitchFamily="2" charset="2"/>
              <a:buChar char="§"/>
            </a:pPr>
            <a:r>
              <a:rPr lang="en-IN" sz="3600" b="0" strike="noStrike" spc="-1" dirty="0">
                <a:ea typeface="Libre Franklin"/>
              </a:rPr>
              <a:t>Can log on from anywhere</a:t>
            </a:r>
            <a:endParaRPr lang="en-IN" sz="3600" b="0" strike="noStrike" spc="-1" dirty="0"/>
          </a:p>
          <a:p>
            <a:pPr marL="571500" indent="-571500">
              <a:buFont typeface="Wingdings" panose="05000000000000000000" pitchFamily="2" charset="2"/>
              <a:buChar char="§"/>
            </a:pPr>
            <a:endParaRPr lang="en-US" sz="3600" dirty="0"/>
          </a:p>
          <a:p>
            <a:pPr marL="571500" indent="-571500">
              <a:buFont typeface="Wingdings" panose="05000000000000000000" pitchFamily="2" charset="2"/>
              <a:buChar char="§"/>
            </a:pPr>
            <a:endParaRPr lang="en-US" sz="3600" dirty="0"/>
          </a:p>
        </p:txBody>
      </p:sp>
      <p:sp>
        <p:nvSpPr>
          <p:cNvPr id="5" name="Slide Number Placeholder 4">
            <a:extLst>
              <a:ext uri="{FF2B5EF4-FFF2-40B4-BE49-F238E27FC236}">
                <a16:creationId xmlns:a16="http://schemas.microsoft.com/office/drawing/2014/main" id="{F951FC86-740B-E917-18E8-F897226EACCB}"/>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745621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49495-B989-1324-9D63-B17C4311F6EE}"/>
              </a:ext>
            </a:extLst>
          </p:cNvPr>
          <p:cNvSpPr>
            <a:spLocks noGrp="1"/>
          </p:cNvSpPr>
          <p:nvPr>
            <p:ph type="ctrTitle"/>
          </p:nvPr>
        </p:nvSpPr>
        <p:spPr>
          <a:xfrm>
            <a:off x="3887972" y="818707"/>
            <a:ext cx="8304028" cy="5029200"/>
          </a:xfrm>
        </p:spPr>
        <p:txBody>
          <a:bodyPr/>
          <a:lstStyle/>
          <a:p>
            <a:r>
              <a:rPr lang="en-US" dirty="0"/>
              <a:t>REVIEW-2</a:t>
            </a:r>
          </a:p>
        </p:txBody>
      </p:sp>
    </p:spTree>
    <p:extLst>
      <p:ext uri="{BB962C8B-B14F-4D97-AF65-F5344CB8AC3E}">
        <p14:creationId xmlns:p14="http://schemas.microsoft.com/office/powerpoint/2010/main" val="3099519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BE71E-F683-3D9B-56FE-1BE6193397D1}"/>
              </a:ext>
            </a:extLst>
          </p:cNvPr>
          <p:cNvSpPr>
            <a:spLocks noGrp="1"/>
          </p:cNvSpPr>
          <p:nvPr>
            <p:ph type="title"/>
          </p:nvPr>
        </p:nvSpPr>
        <p:spPr/>
        <p:txBody>
          <a:bodyPr/>
          <a:lstStyle/>
          <a:p>
            <a:r>
              <a:rPr lang="en-US" sz="3600" dirty="0"/>
              <a:t>TOPICS</a:t>
            </a:r>
          </a:p>
        </p:txBody>
      </p:sp>
      <p:sp>
        <p:nvSpPr>
          <p:cNvPr id="3" name="Content Placeholder 2">
            <a:extLst>
              <a:ext uri="{FF2B5EF4-FFF2-40B4-BE49-F238E27FC236}">
                <a16:creationId xmlns:a16="http://schemas.microsoft.com/office/drawing/2014/main" id="{E4A9FAE8-5BD3-7D91-6972-57C14B471448}"/>
              </a:ext>
            </a:extLst>
          </p:cNvPr>
          <p:cNvSpPr>
            <a:spLocks noGrp="1"/>
          </p:cNvSpPr>
          <p:nvPr>
            <p:ph idx="1"/>
          </p:nvPr>
        </p:nvSpPr>
        <p:spPr>
          <a:xfrm>
            <a:off x="5805377" y="1127052"/>
            <a:ext cx="6039295" cy="5507665"/>
          </a:xfrm>
        </p:spPr>
        <p:txBody>
          <a:bodyPr/>
          <a:lstStyle/>
          <a:p>
            <a:pPr marL="0" marR="0" indent="0" algn="r" rtl="0" eaLnBrk="1" fontAlgn="auto" latinLnBrk="0" hangingPunct="1"/>
            <a:r>
              <a:rPr lang="en-US" sz="2800" dirty="0">
                <a:latin typeface="+mj-lt"/>
              </a:rPr>
              <a:t>ARCHITECTURE</a:t>
            </a:r>
          </a:p>
          <a:p>
            <a:pPr marL="0" marR="0" indent="0" algn="r" rtl="0" eaLnBrk="1" fontAlgn="auto" latinLnBrk="0" hangingPunct="1"/>
            <a:r>
              <a:rPr lang="en-US" sz="1800" dirty="0">
                <a:solidFill>
                  <a:srgbClr val="543E34"/>
                </a:solidFill>
                <a:latin typeface="+mj-lt"/>
                <a:cs typeface="Gill Sans Light" panose="020B0302020104020203"/>
              </a:rPr>
              <a:t>________________________________________</a:t>
            </a:r>
            <a:endParaRPr lang="en-US" sz="1800" b="0" i="0" u="none" strike="noStrike" dirty="0">
              <a:effectLst/>
              <a:latin typeface="+mj-lt"/>
            </a:endParaRPr>
          </a:p>
          <a:p>
            <a:pPr marL="0" algn="r" rtl="0" eaLnBrk="1" fontAlgn="ctr" latinLnBrk="0" hangingPunct="1"/>
            <a:r>
              <a:rPr lang="en-US" sz="2800" dirty="0">
                <a:solidFill>
                  <a:srgbClr val="543E34"/>
                </a:solidFill>
                <a:latin typeface="+mj-lt"/>
              </a:rPr>
              <a:t>DATAFLOW DIAGRAM</a:t>
            </a:r>
          </a:p>
          <a:p>
            <a:pPr marL="0" algn="r" rtl="0" eaLnBrk="1" fontAlgn="ctr" latinLnBrk="0" hangingPunct="1"/>
            <a:r>
              <a:rPr lang="en-US" sz="1800" dirty="0">
                <a:solidFill>
                  <a:srgbClr val="543E34"/>
                </a:solidFill>
                <a:latin typeface="+mj-lt"/>
              </a:rPr>
              <a:t>________________________________________</a:t>
            </a:r>
            <a:endParaRPr lang="en-US" sz="1800" b="0" i="0" u="none" strike="noStrike" dirty="0">
              <a:effectLst/>
              <a:latin typeface="+mj-lt"/>
            </a:endParaRPr>
          </a:p>
          <a:p>
            <a:pPr marL="0" algn="r" rtl="0" eaLnBrk="1" fontAlgn="ctr" latinLnBrk="0" hangingPunct="1"/>
            <a:r>
              <a:rPr lang="en-US" sz="2800" dirty="0">
                <a:solidFill>
                  <a:srgbClr val="543E34"/>
                </a:solidFill>
                <a:latin typeface="+mj-lt"/>
              </a:rPr>
              <a:t>ALGORITHM</a:t>
            </a:r>
            <a:br>
              <a:rPr lang="en-US" sz="1800" dirty="0">
                <a:solidFill>
                  <a:srgbClr val="543E34"/>
                </a:solidFill>
                <a:latin typeface="+mj-lt"/>
              </a:rPr>
            </a:br>
            <a:r>
              <a:rPr lang="en-US" sz="1800" dirty="0">
                <a:solidFill>
                  <a:srgbClr val="543E34"/>
                </a:solidFill>
                <a:latin typeface="+mj-lt"/>
              </a:rPr>
              <a:t>_______________________________________</a:t>
            </a:r>
            <a:endParaRPr lang="en-US" sz="1800" b="0" i="0" u="none" strike="noStrike" dirty="0">
              <a:effectLst/>
              <a:latin typeface="+mj-lt"/>
            </a:endParaRPr>
          </a:p>
          <a:p>
            <a:pPr marL="0" marR="0" indent="0" algn="r" rtl="0" eaLnBrk="1" fontAlgn="auto" latinLnBrk="0" hangingPunct="1"/>
            <a:r>
              <a:rPr lang="en-US" sz="2800" b="0" i="0" u="none" strike="noStrike" kern="1200" dirty="0">
                <a:solidFill>
                  <a:srgbClr val="543E34"/>
                </a:solidFill>
                <a:effectLst/>
                <a:latin typeface="+mj-lt"/>
                <a:cs typeface="Gill Sans Light" panose="020B0302020104020203"/>
              </a:rPr>
              <a:t>LIBRARIES AND ALGORITHM USED</a:t>
            </a:r>
          </a:p>
          <a:p>
            <a:pPr marL="0" marR="0" indent="0" algn="r" rtl="0" eaLnBrk="1" fontAlgn="auto" latinLnBrk="0" hangingPunct="1"/>
            <a:r>
              <a:rPr lang="en-US" sz="1800" dirty="0">
                <a:solidFill>
                  <a:srgbClr val="543E34"/>
                </a:solidFill>
                <a:latin typeface="+mj-lt"/>
                <a:cs typeface="Gill Sans Light" panose="020B0302020104020203"/>
              </a:rPr>
              <a:t>________________________________________</a:t>
            </a:r>
            <a:endParaRPr lang="en-US" sz="1800" b="0" i="0" u="none" strike="noStrike" dirty="0">
              <a:effectLst/>
              <a:latin typeface="+mj-lt"/>
            </a:endParaRPr>
          </a:p>
          <a:p>
            <a:r>
              <a:rPr lang="en-US" sz="2800" dirty="0">
                <a:latin typeface="+mj-lt"/>
              </a:rPr>
              <a:t>MODULES IN THE SYSTEM</a:t>
            </a:r>
          </a:p>
        </p:txBody>
      </p:sp>
    </p:spTree>
    <p:extLst>
      <p:ext uri="{BB962C8B-B14F-4D97-AF65-F5344CB8AC3E}">
        <p14:creationId xmlns:p14="http://schemas.microsoft.com/office/powerpoint/2010/main" val="2987541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77B3-F3F3-46EB-1C8A-22BE81700CDE}"/>
              </a:ext>
            </a:extLst>
          </p:cNvPr>
          <p:cNvSpPr>
            <a:spLocks noGrp="1"/>
          </p:cNvSpPr>
          <p:nvPr>
            <p:ph type="title"/>
          </p:nvPr>
        </p:nvSpPr>
        <p:spPr/>
        <p:txBody>
          <a:bodyPr/>
          <a:lstStyle/>
          <a:p>
            <a:r>
              <a:rPr lang="en-US" dirty="0"/>
              <a:t>ARCHITECTURE</a:t>
            </a:r>
          </a:p>
        </p:txBody>
      </p:sp>
    </p:spTree>
    <p:extLst>
      <p:ext uri="{BB962C8B-B14F-4D97-AF65-F5344CB8AC3E}">
        <p14:creationId xmlns:p14="http://schemas.microsoft.com/office/powerpoint/2010/main" val="3372202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08926-5E4B-EC5C-E577-951BB57289ED}"/>
              </a:ext>
            </a:extLst>
          </p:cNvPr>
          <p:cNvSpPr>
            <a:spLocks noGrp="1"/>
          </p:cNvSpPr>
          <p:nvPr>
            <p:ph type="title"/>
          </p:nvPr>
        </p:nvSpPr>
        <p:spPr>
          <a:xfrm>
            <a:off x="829339" y="382772"/>
            <a:ext cx="10360152" cy="754912"/>
          </a:xfrm>
        </p:spPr>
        <p:txBody>
          <a:bodyPr/>
          <a:lstStyle/>
          <a:p>
            <a:r>
              <a:rPr lang="en-US" dirty="0"/>
              <a:t>ARCHITECTURE</a:t>
            </a:r>
          </a:p>
        </p:txBody>
      </p:sp>
      <p:sp>
        <p:nvSpPr>
          <p:cNvPr id="4" name="Slide Number Placeholder 3">
            <a:extLst>
              <a:ext uri="{FF2B5EF4-FFF2-40B4-BE49-F238E27FC236}">
                <a16:creationId xmlns:a16="http://schemas.microsoft.com/office/drawing/2014/main" id="{A7AFF1D4-FD66-3794-D990-D4C9B47E6E94}"/>
              </a:ext>
            </a:extLst>
          </p:cNvPr>
          <p:cNvSpPr>
            <a:spLocks noGrp="1"/>
          </p:cNvSpPr>
          <p:nvPr>
            <p:ph type="sldNum" sz="quarter" idx="4"/>
          </p:nvPr>
        </p:nvSpPr>
        <p:spPr/>
        <p:txBody>
          <a:bodyPr/>
          <a:lstStyle/>
          <a:p>
            <a:fld id="{58FB4751-880F-D840-AAA9-3A15815CC996}" type="slidenum">
              <a:rPr lang="en-US" smtClean="0"/>
              <a:pPr/>
              <a:t>21</a:t>
            </a:fld>
            <a:endParaRPr lang="en-US" dirty="0"/>
          </a:p>
        </p:txBody>
      </p:sp>
      <p:sp>
        <p:nvSpPr>
          <p:cNvPr id="6" name="TextBox 5">
            <a:extLst>
              <a:ext uri="{FF2B5EF4-FFF2-40B4-BE49-F238E27FC236}">
                <a16:creationId xmlns:a16="http://schemas.microsoft.com/office/drawing/2014/main" id="{15696597-398F-DCF0-0708-466C1BB38B2B}"/>
              </a:ext>
            </a:extLst>
          </p:cNvPr>
          <p:cNvSpPr txBox="1"/>
          <p:nvPr/>
        </p:nvSpPr>
        <p:spPr>
          <a:xfrm>
            <a:off x="674459" y="1310995"/>
            <a:ext cx="7006983" cy="4524315"/>
          </a:xfrm>
          <a:prstGeom prst="rect">
            <a:avLst/>
          </a:prstGeom>
          <a:noFill/>
        </p:spPr>
        <p:txBody>
          <a:bodyPr wrap="square" rtlCol="0">
            <a:spAutoFit/>
          </a:bodyPr>
          <a:lstStyle/>
          <a:p>
            <a:pPr marL="457200" indent="-457200">
              <a:buFont typeface="Wingdings" panose="05000000000000000000" pitchFamily="2" charset="2"/>
              <a:buChar char="§"/>
            </a:pPr>
            <a:r>
              <a:rPr lang="en-US" sz="3200" dirty="0"/>
              <a:t>The machine learning architecture defines the various layers involved in the machine</a:t>
            </a:r>
          </a:p>
          <a:p>
            <a:pPr marL="457200" indent="-457200">
              <a:buFont typeface="Wingdings" panose="05000000000000000000" pitchFamily="2" charset="2"/>
              <a:buChar char="§"/>
            </a:pPr>
            <a:r>
              <a:rPr lang="en-US" sz="3200" dirty="0"/>
              <a:t>learning cycle and involves the major steps being carried out in the transformation of raw data into training data sets capable for enabling the decision making of a system</a:t>
            </a:r>
            <a:endParaRPr lang="en-IN" sz="3200" dirty="0"/>
          </a:p>
          <a:p>
            <a:pPr marL="457200" indent="-457200">
              <a:buFont typeface="Wingdings" panose="05000000000000000000" pitchFamily="2" charset="2"/>
              <a:buChar char="§"/>
            </a:pPr>
            <a:endParaRPr lang="en-US" sz="3200" dirty="0"/>
          </a:p>
        </p:txBody>
      </p:sp>
      <p:pic>
        <p:nvPicPr>
          <p:cNvPr id="5" name="Picture 4">
            <a:extLst>
              <a:ext uri="{FF2B5EF4-FFF2-40B4-BE49-F238E27FC236}">
                <a16:creationId xmlns:a16="http://schemas.microsoft.com/office/drawing/2014/main" id="{B8363700-BA19-38DA-F3DA-DAAF2149B4D3}"/>
              </a:ext>
            </a:extLst>
          </p:cNvPr>
          <p:cNvPicPr>
            <a:picLocks noChangeAspect="1"/>
          </p:cNvPicPr>
          <p:nvPr/>
        </p:nvPicPr>
        <p:blipFill>
          <a:blip r:embed="rId2"/>
          <a:stretch>
            <a:fillRect/>
          </a:stretch>
        </p:blipFill>
        <p:spPr>
          <a:xfrm>
            <a:off x="8305559" y="150237"/>
            <a:ext cx="2970677" cy="6177516"/>
          </a:xfrm>
          <a:prstGeom prst="rect">
            <a:avLst/>
          </a:prstGeom>
        </p:spPr>
      </p:pic>
    </p:spTree>
    <p:extLst>
      <p:ext uri="{BB962C8B-B14F-4D97-AF65-F5344CB8AC3E}">
        <p14:creationId xmlns:p14="http://schemas.microsoft.com/office/powerpoint/2010/main" val="3811447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3535-E58B-114F-21C8-5544C14584E8}"/>
              </a:ext>
            </a:extLst>
          </p:cNvPr>
          <p:cNvSpPr>
            <a:spLocks noGrp="1"/>
          </p:cNvSpPr>
          <p:nvPr>
            <p:ph type="title"/>
          </p:nvPr>
        </p:nvSpPr>
        <p:spPr>
          <a:xfrm>
            <a:off x="914399" y="744279"/>
            <a:ext cx="6687879" cy="5029200"/>
          </a:xfrm>
        </p:spPr>
        <p:txBody>
          <a:bodyPr/>
          <a:lstStyle/>
          <a:p>
            <a:r>
              <a:rPr lang="en-US" sz="3600" dirty="0"/>
              <a:t>DATAFLOW DIAGRAM</a:t>
            </a:r>
          </a:p>
        </p:txBody>
      </p:sp>
    </p:spTree>
    <p:extLst>
      <p:ext uri="{BB962C8B-B14F-4D97-AF65-F5344CB8AC3E}">
        <p14:creationId xmlns:p14="http://schemas.microsoft.com/office/powerpoint/2010/main" val="2715935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60C7-D7E3-8848-7B0D-07DE01A9DD9A}"/>
              </a:ext>
            </a:extLst>
          </p:cNvPr>
          <p:cNvSpPr>
            <a:spLocks noGrp="1"/>
          </p:cNvSpPr>
          <p:nvPr>
            <p:ph type="title"/>
          </p:nvPr>
        </p:nvSpPr>
        <p:spPr>
          <a:xfrm>
            <a:off x="914273" y="404037"/>
            <a:ext cx="10360152" cy="914400"/>
          </a:xfrm>
        </p:spPr>
        <p:txBody>
          <a:bodyPr/>
          <a:lstStyle/>
          <a:p>
            <a:r>
              <a:rPr lang="en-US" dirty="0"/>
              <a:t>DATA FLOW DIAGRAM</a:t>
            </a:r>
          </a:p>
        </p:txBody>
      </p:sp>
      <p:sp>
        <p:nvSpPr>
          <p:cNvPr id="4" name="Slide Number Placeholder 3">
            <a:extLst>
              <a:ext uri="{FF2B5EF4-FFF2-40B4-BE49-F238E27FC236}">
                <a16:creationId xmlns:a16="http://schemas.microsoft.com/office/drawing/2014/main" id="{A90D7748-FA13-B9E9-FBED-6452BB608C14}"/>
              </a:ext>
            </a:extLst>
          </p:cNvPr>
          <p:cNvSpPr>
            <a:spLocks noGrp="1"/>
          </p:cNvSpPr>
          <p:nvPr>
            <p:ph type="sldNum" sz="quarter" idx="4"/>
          </p:nvPr>
        </p:nvSpPr>
        <p:spPr/>
        <p:txBody>
          <a:bodyPr/>
          <a:lstStyle/>
          <a:p>
            <a:fld id="{58FB4751-880F-D840-AAA9-3A15815CC996}" type="slidenum">
              <a:rPr lang="en-US" smtClean="0"/>
              <a:pPr/>
              <a:t>23</a:t>
            </a:fld>
            <a:endParaRPr lang="en-US" dirty="0"/>
          </a:p>
        </p:txBody>
      </p:sp>
      <p:pic>
        <p:nvPicPr>
          <p:cNvPr id="5" name="Table Placeholder 4">
            <a:extLst>
              <a:ext uri="{FF2B5EF4-FFF2-40B4-BE49-F238E27FC236}">
                <a16:creationId xmlns:a16="http://schemas.microsoft.com/office/drawing/2014/main" id="{6FDA3D2A-2908-DCED-3742-2C9371E6DD4D}"/>
              </a:ext>
            </a:extLst>
          </p:cNvPr>
          <p:cNvPicPr>
            <a:picLocks noGrp="1" noChangeAspect="1"/>
          </p:cNvPicPr>
          <p:nvPr>
            <p:ph type="tbl" sz="quarter" idx="14"/>
          </p:nvPr>
        </p:nvPicPr>
        <p:blipFill>
          <a:blip r:embed="rId2">
            <a:extLst>
              <a:ext uri="{28A0092B-C50C-407E-A947-70E740481C1C}">
                <a14:useLocalDpi xmlns:a14="http://schemas.microsoft.com/office/drawing/2010/main" val="0"/>
              </a:ext>
            </a:extLst>
          </a:blip>
          <a:stretch>
            <a:fillRect/>
          </a:stretch>
        </p:blipFill>
        <p:spPr>
          <a:xfrm>
            <a:off x="2211572" y="1722474"/>
            <a:ext cx="7400261" cy="3934047"/>
          </a:xfrm>
          <a:prstGeom prst="rect">
            <a:avLst/>
          </a:prstGeom>
        </p:spPr>
      </p:pic>
    </p:spTree>
    <p:extLst>
      <p:ext uri="{BB962C8B-B14F-4D97-AF65-F5344CB8AC3E}">
        <p14:creationId xmlns:p14="http://schemas.microsoft.com/office/powerpoint/2010/main" val="2703039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3255-53C7-82F4-D04A-C1535D525BD4}"/>
              </a:ext>
            </a:extLst>
          </p:cNvPr>
          <p:cNvSpPr>
            <a:spLocks noGrp="1"/>
          </p:cNvSpPr>
          <p:nvPr>
            <p:ph type="title"/>
          </p:nvPr>
        </p:nvSpPr>
        <p:spPr>
          <a:xfrm>
            <a:off x="914400" y="914400"/>
            <a:ext cx="6134986" cy="5029200"/>
          </a:xfrm>
        </p:spPr>
        <p:txBody>
          <a:bodyPr/>
          <a:lstStyle/>
          <a:p>
            <a:r>
              <a:rPr lang="en-US" dirty="0"/>
              <a:t>ALGORITHM</a:t>
            </a:r>
          </a:p>
        </p:txBody>
      </p:sp>
      <p:sp>
        <p:nvSpPr>
          <p:cNvPr id="3" name="Picture Placeholder 2">
            <a:extLst>
              <a:ext uri="{FF2B5EF4-FFF2-40B4-BE49-F238E27FC236}">
                <a16:creationId xmlns:a16="http://schemas.microsoft.com/office/drawing/2014/main" id="{E60B3B9D-86C2-D0D4-55F5-BEEB755DFD03}"/>
              </a:ext>
            </a:extLst>
          </p:cNvPr>
          <p:cNvSpPr>
            <a:spLocks noGrp="1"/>
          </p:cNvSpPr>
          <p:nvPr>
            <p:ph type="pic" idx="1"/>
          </p:nvPr>
        </p:nvSpPr>
        <p:spPr/>
      </p:sp>
    </p:spTree>
    <p:extLst>
      <p:ext uri="{BB962C8B-B14F-4D97-AF65-F5344CB8AC3E}">
        <p14:creationId xmlns:p14="http://schemas.microsoft.com/office/powerpoint/2010/main" val="1029599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4233-9D93-880D-355A-9B1ACE1106DF}"/>
              </a:ext>
            </a:extLst>
          </p:cNvPr>
          <p:cNvSpPr>
            <a:spLocks noGrp="1"/>
          </p:cNvSpPr>
          <p:nvPr>
            <p:ph type="title"/>
          </p:nvPr>
        </p:nvSpPr>
        <p:spPr>
          <a:xfrm>
            <a:off x="914273" y="329609"/>
            <a:ext cx="10360152" cy="637953"/>
          </a:xfrm>
        </p:spPr>
        <p:txBody>
          <a:bodyPr/>
          <a:lstStyle/>
          <a:p>
            <a:r>
              <a:rPr lang="en-US" dirty="0"/>
              <a:t>ALGORITHM</a:t>
            </a:r>
          </a:p>
        </p:txBody>
      </p:sp>
      <p:sp>
        <p:nvSpPr>
          <p:cNvPr id="4" name="Slide Number Placeholder 3">
            <a:extLst>
              <a:ext uri="{FF2B5EF4-FFF2-40B4-BE49-F238E27FC236}">
                <a16:creationId xmlns:a16="http://schemas.microsoft.com/office/drawing/2014/main" id="{EC6C3A4E-34F4-0AF1-4108-CC580747931D}"/>
              </a:ext>
            </a:extLst>
          </p:cNvPr>
          <p:cNvSpPr>
            <a:spLocks noGrp="1"/>
          </p:cNvSpPr>
          <p:nvPr>
            <p:ph type="sldNum" sz="quarter" idx="4"/>
          </p:nvPr>
        </p:nvSpPr>
        <p:spPr/>
        <p:txBody>
          <a:bodyPr/>
          <a:lstStyle/>
          <a:p>
            <a:fld id="{58FB4751-880F-D840-AAA9-3A15815CC996}" type="slidenum">
              <a:rPr lang="en-US" smtClean="0"/>
              <a:pPr/>
              <a:t>25</a:t>
            </a:fld>
            <a:endParaRPr lang="en-US" dirty="0"/>
          </a:p>
        </p:txBody>
      </p:sp>
      <p:sp>
        <p:nvSpPr>
          <p:cNvPr id="6" name="TextBox 5">
            <a:extLst>
              <a:ext uri="{FF2B5EF4-FFF2-40B4-BE49-F238E27FC236}">
                <a16:creationId xmlns:a16="http://schemas.microsoft.com/office/drawing/2014/main" id="{468B2BA7-5FA0-F1C9-2A58-1FD8CB34BEA2}"/>
              </a:ext>
            </a:extLst>
          </p:cNvPr>
          <p:cNvSpPr txBox="1"/>
          <p:nvPr/>
        </p:nvSpPr>
        <p:spPr>
          <a:xfrm>
            <a:off x="531628" y="1116419"/>
            <a:ext cx="6974958" cy="4139429"/>
          </a:xfrm>
          <a:prstGeom prst="rect">
            <a:avLst/>
          </a:prstGeom>
          <a:noFill/>
        </p:spPr>
        <p:txBody>
          <a:bodyPr wrap="square" rtlCol="0">
            <a:spAutoFit/>
          </a:bodyPr>
          <a:lstStyle/>
          <a:p>
            <a:pPr marL="360">
              <a:lnSpc>
                <a:spcPct val="94000"/>
              </a:lnSpc>
            </a:pPr>
            <a:r>
              <a:rPr lang="en-IN" sz="1800" b="1" u="sng" strike="noStrike" spc="-1" dirty="0">
                <a:solidFill>
                  <a:srgbClr val="191B0E"/>
                </a:solidFill>
                <a:uFillTx/>
                <a:ea typeface="Libre Franklin"/>
              </a:rPr>
              <a:t>K-Means clustering :</a:t>
            </a:r>
            <a:endParaRPr lang="en-IN" sz="1800" b="0" strike="noStrike" spc="-1" dirty="0"/>
          </a:p>
          <a:p>
            <a:pPr marL="1080">
              <a:lnSpc>
                <a:spcPct val="94000"/>
              </a:lnSpc>
              <a:buClr>
                <a:srgbClr val="191B0E"/>
              </a:buClr>
            </a:pPr>
            <a:endParaRPr lang="en-IN" sz="1800" b="1" u="sng" strike="noStrike" spc="-1" dirty="0">
              <a:solidFill>
                <a:srgbClr val="191B0E"/>
              </a:solidFill>
              <a:uFillTx/>
              <a:ea typeface="Arial"/>
            </a:endParaRPr>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1:</a:t>
            </a:r>
            <a:r>
              <a:rPr lang="en-IN" sz="1800" b="0" strike="noStrike" spc="-1" dirty="0">
                <a:solidFill>
                  <a:srgbClr val="191B0E"/>
                </a:solidFill>
                <a:ea typeface="Arial"/>
              </a:rPr>
              <a:t> Select the number of clusters, k </a:t>
            </a:r>
          </a:p>
          <a:p>
            <a:pPr marL="384120" indent="-383040">
              <a:lnSpc>
                <a:spcPct val="94000"/>
              </a:lnSpc>
              <a:buClr>
                <a:srgbClr val="191B0E"/>
              </a:buClr>
              <a:buFont typeface="Libre Franklin"/>
              <a:buChar char="■"/>
            </a:pPr>
            <a:endParaRPr lang="en-IN" sz="1800" b="0" strike="noStrike" spc="-1" dirty="0"/>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2: </a:t>
            </a:r>
            <a:r>
              <a:rPr lang="en-IN" sz="1800" b="0" strike="noStrike" spc="-1" dirty="0">
                <a:solidFill>
                  <a:srgbClr val="191B0E"/>
                </a:solidFill>
                <a:ea typeface="Arial"/>
              </a:rPr>
              <a:t>Select k points at random</a:t>
            </a:r>
          </a:p>
          <a:p>
            <a:pPr marL="384120" indent="-383040">
              <a:lnSpc>
                <a:spcPct val="94000"/>
              </a:lnSpc>
              <a:buClr>
                <a:srgbClr val="191B0E"/>
              </a:buClr>
              <a:buFont typeface="Libre Franklin"/>
              <a:buChar char="■"/>
            </a:pPr>
            <a:endParaRPr lang="en-IN" sz="1800" b="0" strike="noStrike" spc="-1" dirty="0"/>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3: </a:t>
            </a:r>
            <a:r>
              <a:rPr lang="en-IN" sz="1800" b="0" strike="noStrike" spc="-1" dirty="0">
                <a:solidFill>
                  <a:srgbClr val="191B0E"/>
                </a:solidFill>
                <a:ea typeface="Arial"/>
              </a:rPr>
              <a:t>Make k clusters</a:t>
            </a:r>
          </a:p>
          <a:p>
            <a:pPr marL="384120" indent="-383040">
              <a:lnSpc>
                <a:spcPct val="94000"/>
              </a:lnSpc>
              <a:buClr>
                <a:srgbClr val="191B0E"/>
              </a:buClr>
              <a:buFont typeface="Libre Franklin"/>
              <a:buChar char="■"/>
            </a:pPr>
            <a:endParaRPr lang="en-IN" sz="1800" b="0" strike="noStrike" spc="-1" dirty="0"/>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4:</a:t>
            </a:r>
            <a:r>
              <a:rPr lang="en-IN" sz="1800" b="0" strike="noStrike" spc="-1" dirty="0">
                <a:solidFill>
                  <a:srgbClr val="191B0E"/>
                </a:solidFill>
                <a:ea typeface="Arial"/>
              </a:rPr>
              <a:t> Compute New centroid of Each cluster</a:t>
            </a:r>
          </a:p>
          <a:p>
            <a:pPr marL="384120" indent="-383040">
              <a:lnSpc>
                <a:spcPct val="94000"/>
              </a:lnSpc>
              <a:buClr>
                <a:srgbClr val="191B0E"/>
              </a:buClr>
              <a:buFont typeface="Libre Franklin"/>
              <a:buChar char="■"/>
            </a:pPr>
            <a:endParaRPr lang="en-IN" sz="1800" b="0" strike="noStrike" spc="-1" dirty="0"/>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5:</a:t>
            </a:r>
            <a:r>
              <a:rPr lang="en-IN" sz="1800" b="1" strike="noStrike" spc="-1" dirty="0">
                <a:solidFill>
                  <a:srgbClr val="191B0E"/>
                </a:solidFill>
                <a:ea typeface="Arial"/>
              </a:rPr>
              <a:t> </a:t>
            </a:r>
            <a:r>
              <a:rPr lang="en-IN" sz="1800" b="0" strike="noStrike" spc="-1" dirty="0">
                <a:solidFill>
                  <a:srgbClr val="191B0E"/>
                </a:solidFill>
                <a:ea typeface="Arial"/>
              </a:rPr>
              <a:t>Assess the quality of each cluster</a:t>
            </a:r>
          </a:p>
          <a:p>
            <a:pPr marL="384120" indent="-383040">
              <a:lnSpc>
                <a:spcPct val="94000"/>
              </a:lnSpc>
              <a:buClr>
                <a:srgbClr val="191B0E"/>
              </a:buClr>
              <a:buFont typeface="Libre Franklin"/>
              <a:buChar char="■"/>
            </a:pPr>
            <a:endParaRPr lang="en-IN" sz="1800" b="0" strike="noStrike" spc="-1" dirty="0"/>
          </a:p>
          <a:p>
            <a:pPr marL="384120" indent="-383040">
              <a:lnSpc>
                <a:spcPct val="94000"/>
              </a:lnSpc>
              <a:buClr>
                <a:srgbClr val="191B0E"/>
              </a:buClr>
              <a:buFont typeface="Libre Franklin"/>
              <a:buChar char="■"/>
            </a:pPr>
            <a:r>
              <a:rPr lang="en-IN" sz="1800" b="1" u="sng" strike="noStrike" spc="-1" dirty="0">
                <a:solidFill>
                  <a:srgbClr val="191B0E"/>
                </a:solidFill>
                <a:uFillTx/>
                <a:ea typeface="Arial"/>
              </a:rPr>
              <a:t>Step 6</a:t>
            </a:r>
            <a:r>
              <a:rPr lang="en-IN" sz="1800" b="0" u="sng" strike="noStrike" spc="-1" dirty="0">
                <a:solidFill>
                  <a:srgbClr val="191B0E"/>
                </a:solidFill>
                <a:uFillTx/>
                <a:ea typeface="Arial"/>
              </a:rPr>
              <a:t>:</a:t>
            </a:r>
            <a:r>
              <a:rPr lang="en-IN" sz="1800" b="0" strike="noStrike" spc="-1" dirty="0">
                <a:solidFill>
                  <a:srgbClr val="191B0E"/>
                </a:solidFill>
                <a:ea typeface="Arial"/>
              </a:rPr>
              <a:t> Repeat steps 3-5</a:t>
            </a:r>
            <a:endParaRPr lang="en-IN" sz="1800" b="0" strike="noStrike" spc="-1" dirty="0"/>
          </a:p>
          <a:p>
            <a:pPr marL="384120" indent="-255960">
              <a:lnSpc>
                <a:spcPct val="94000"/>
              </a:lnSpc>
            </a:pPr>
            <a:endParaRPr lang="en-IN" sz="2000" b="0" strike="noStrike" spc="-1" dirty="0"/>
          </a:p>
          <a:p>
            <a:endParaRPr lang="en-US" dirty="0"/>
          </a:p>
        </p:txBody>
      </p:sp>
      <p:pic>
        <p:nvPicPr>
          <p:cNvPr id="3" name="Picture 2">
            <a:extLst>
              <a:ext uri="{FF2B5EF4-FFF2-40B4-BE49-F238E27FC236}">
                <a16:creationId xmlns:a16="http://schemas.microsoft.com/office/drawing/2014/main" id="{3300A0D5-F2F1-B209-9D47-384A90294E46}"/>
              </a:ext>
            </a:extLst>
          </p:cNvPr>
          <p:cNvPicPr>
            <a:picLocks noChangeAspect="1"/>
          </p:cNvPicPr>
          <p:nvPr/>
        </p:nvPicPr>
        <p:blipFill>
          <a:blip r:embed="rId2"/>
          <a:stretch>
            <a:fillRect/>
          </a:stretch>
        </p:blipFill>
        <p:spPr>
          <a:xfrm>
            <a:off x="6654012" y="1116419"/>
            <a:ext cx="4620413" cy="3783959"/>
          </a:xfrm>
          <a:prstGeom prst="rect">
            <a:avLst/>
          </a:prstGeom>
        </p:spPr>
      </p:pic>
    </p:spTree>
    <p:extLst>
      <p:ext uri="{BB962C8B-B14F-4D97-AF65-F5344CB8AC3E}">
        <p14:creationId xmlns:p14="http://schemas.microsoft.com/office/powerpoint/2010/main" val="474271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86126-9ECA-BBBB-4EC4-F0243F18AB45}"/>
              </a:ext>
            </a:extLst>
          </p:cNvPr>
          <p:cNvSpPr>
            <a:spLocks noGrp="1"/>
          </p:cNvSpPr>
          <p:nvPr>
            <p:ph type="title"/>
          </p:nvPr>
        </p:nvSpPr>
        <p:spPr>
          <a:xfrm>
            <a:off x="584663" y="329608"/>
            <a:ext cx="10360152" cy="701749"/>
          </a:xfrm>
        </p:spPr>
        <p:txBody>
          <a:bodyPr/>
          <a:lstStyle/>
          <a:p>
            <a:r>
              <a:rPr lang="en-US" b="1" dirty="0"/>
              <a:t>LIBRARIES AND ALGORITHM USED</a:t>
            </a:r>
          </a:p>
        </p:txBody>
      </p:sp>
      <p:sp>
        <p:nvSpPr>
          <p:cNvPr id="4" name="Slide Number Placeholder 3">
            <a:extLst>
              <a:ext uri="{FF2B5EF4-FFF2-40B4-BE49-F238E27FC236}">
                <a16:creationId xmlns:a16="http://schemas.microsoft.com/office/drawing/2014/main" id="{2E8730B4-1504-CD27-40D1-3BE465C84C82}"/>
              </a:ext>
            </a:extLst>
          </p:cNvPr>
          <p:cNvSpPr>
            <a:spLocks noGrp="1"/>
          </p:cNvSpPr>
          <p:nvPr>
            <p:ph type="sldNum" sz="quarter" idx="4"/>
          </p:nvPr>
        </p:nvSpPr>
        <p:spPr/>
        <p:txBody>
          <a:bodyPr/>
          <a:lstStyle/>
          <a:p>
            <a:fld id="{58FB4751-880F-D840-AAA9-3A15815CC996}" type="slidenum">
              <a:rPr lang="en-US" smtClean="0"/>
              <a:pPr/>
              <a:t>26</a:t>
            </a:fld>
            <a:endParaRPr lang="en-US" dirty="0"/>
          </a:p>
        </p:txBody>
      </p:sp>
      <p:sp>
        <p:nvSpPr>
          <p:cNvPr id="9" name="TextBox 8">
            <a:extLst>
              <a:ext uri="{FF2B5EF4-FFF2-40B4-BE49-F238E27FC236}">
                <a16:creationId xmlns:a16="http://schemas.microsoft.com/office/drawing/2014/main" id="{C78DD8AC-E429-62FA-538E-78532620A1A9}"/>
              </a:ext>
            </a:extLst>
          </p:cNvPr>
          <p:cNvSpPr txBox="1"/>
          <p:nvPr/>
        </p:nvSpPr>
        <p:spPr>
          <a:xfrm>
            <a:off x="584663" y="1259175"/>
            <a:ext cx="4338211" cy="4339650"/>
          </a:xfrm>
          <a:prstGeom prst="rect">
            <a:avLst/>
          </a:prstGeom>
          <a:noFill/>
        </p:spPr>
        <p:txBody>
          <a:bodyPr wrap="square" rtlCol="0">
            <a:spAutoFit/>
          </a:bodyPr>
          <a:lstStyle/>
          <a:p>
            <a:r>
              <a:rPr lang="en-US" sz="4000" u="sng" dirty="0"/>
              <a:t>Libraries used:-                     </a:t>
            </a:r>
            <a:endParaRPr lang="en-IN" sz="4000" dirty="0"/>
          </a:p>
          <a:p>
            <a:endParaRPr lang="en-US" sz="4000" u="sng" dirty="0"/>
          </a:p>
          <a:p>
            <a:r>
              <a:rPr lang="en-US" sz="3200" dirty="0"/>
              <a:t>Numpy</a:t>
            </a:r>
          </a:p>
          <a:p>
            <a:r>
              <a:rPr lang="en-US" sz="3200" dirty="0"/>
              <a:t>Pandas</a:t>
            </a:r>
          </a:p>
          <a:p>
            <a:r>
              <a:rPr lang="en-US" sz="3200" dirty="0"/>
              <a:t>Seaborn</a:t>
            </a:r>
          </a:p>
          <a:p>
            <a:r>
              <a:rPr lang="en-US" sz="3200" dirty="0"/>
              <a:t>Matplotlib</a:t>
            </a:r>
          </a:p>
          <a:p>
            <a:r>
              <a:rPr lang="en-US" sz="3200" dirty="0" err="1"/>
              <a:t>Sklearn</a:t>
            </a:r>
            <a:endParaRPr lang="en-US" sz="3200" dirty="0"/>
          </a:p>
          <a:p>
            <a:endParaRPr lang="en-IN" dirty="0"/>
          </a:p>
          <a:p>
            <a:endParaRPr lang="en-US" dirty="0"/>
          </a:p>
        </p:txBody>
      </p:sp>
      <p:sp>
        <p:nvSpPr>
          <p:cNvPr id="12" name="TextBox 11">
            <a:extLst>
              <a:ext uri="{FF2B5EF4-FFF2-40B4-BE49-F238E27FC236}">
                <a16:creationId xmlns:a16="http://schemas.microsoft.com/office/drawing/2014/main" id="{328A6831-25DD-C870-6009-76B1A443431B}"/>
              </a:ext>
            </a:extLst>
          </p:cNvPr>
          <p:cNvSpPr txBox="1"/>
          <p:nvPr/>
        </p:nvSpPr>
        <p:spPr>
          <a:xfrm>
            <a:off x="5380074" y="1259175"/>
            <a:ext cx="5699051" cy="5478423"/>
          </a:xfrm>
          <a:prstGeom prst="rect">
            <a:avLst/>
          </a:prstGeom>
          <a:noFill/>
        </p:spPr>
        <p:txBody>
          <a:bodyPr wrap="square" rtlCol="0">
            <a:spAutoFit/>
          </a:bodyPr>
          <a:lstStyle/>
          <a:p>
            <a:r>
              <a:rPr lang="en-US" sz="2800" u="sng" dirty="0"/>
              <a:t>Algorithm used</a:t>
            </a:r>
            <a:r>
              <a:rPr lang="en-US" sz="2800" dirty="0"/>
              <a:t>:-</a:t>
            </a:r>
          </a:p>
          <a:p>
            <a:endParaRPr lang="en-US" sz="2800" dirty="0"/>
          </a:p>
          <a:p>
            <a:r>
              <a:rPr lang="en-US" sz="2000" b="1" u="sng" dirty="0"/>
              <a:t>K-Means clustering :</a:t>
            </a:r>
          </a:p>
          <a:p>
            <a:pPr fontAlgn="base"/>
            <a:r>
              <a:rPr lang="en-US" sz="2000" dirty="0"/>
              <a:t>The objective of k-means is to minimize the total sum of the squared distance of every point to its corresponding cluster centroid. Given a set of observations (x1, x2, …, </a:t>
            </a:r>
            <a:r>
              <a:rPr lang="en-US" sz="2000" dirty="0" err="1"/>
              <a:t>xn</a:t>
            </a:r>
            <a:r>
              <a:rPr lang="en-US" sz="2000" dirty="0"/>
              <a:t>), where each observation is a d-dimensional real vector, k-means clustering aims to partition the n observations into k (≤ n) sets S = {S1, S2, …, </a:t>
            </a:r>
            <a:r>
              <a:rPr lang="en-US" sz="2000" dirty="0" err="1"/>
              <a:t>Sk</a:t>
            </a:r>
            <a:r>
              <a:rPr lang="en-US" sz="2000" dirty="0"/>
              <a:t>} so as to minimize the within-cluster sum of squares where µ</a:t>
            </a:r>
            <a:r>
              <a:rPr lang="en-US" sz="2000" dirty="0" err="1"/>
              <a:t>i</a:t>
            </a:r>
            <a:r>
              <a:rPr lang="en-US" sz="2000" dirty="0"/>
              <a:t> is the mean of points in Si.</a:t>
            </a:r>
          </a:p>
          <a:p>
            <a:pPr fontAlgn="base"/>
            <a:r>
              <a:rPr lang="en-US" sz="2000" dirty="0"/>
              <a:t>The k-means algorithm is guaranteed to converge a local optimum.</a:t>
            </a:r>
          </a:p>
          <a:p>
            <a:pPr marL="0" indent="0">
              <a:buFont typeface="Arial" panose="020B0604020202020204" pitchFamily="34" charset="0"/>
              <a:buNone/>
            </a:pPr>
            <a:endParaRPr lang="en-IN" sz="2800" b="1" u="sng" dirty="0"/>
          </a:p>
          <a:p>
            <a:endParaRPr lang="en-IN" sz="2800" dirty="0"/>
          </a:p>
          <a:p>
            <a:endParaRPr lang="en-US" dirty="0"/>
          </a:p>
        </p:txBody>
      </p:sp>
    </p:spTree>
    <p:extLst>
      <p:ext uri="{BB962C8B-B14F-4D97-AF65-F5344CB8AC3E}">
        <p14:creationId xmlns:p14="http://schemas.microsoft.com/office/powerpoint/2010/main" val="4131729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57DB6CF-B740-25D4-C2C9-ECD4EB759F9B}"/>
              </a:ext>
            </a:extLst>
          </p:cNvPr>
          <p:cNvSpPr txBox="1"/>
          <p:nvPr/>
        </p:nvSpPr>
        <p:spPr>
          <a:xfrm>
            <a:off x="786809" y="510363"/>
            <a:ext cx="9229061" cy="4493538"/>
          </a:xfrm>
          <a:prstGeom prst="rect">
            <a:avLst/>
          </a:prstGeom>
          <a:noFill/>
        </p:spPr>
        <p:txBody>
          <a:bodyPr wrap="square" rtlCol="0">
            <a:spAutoFit/>
          </a:bodyPr>
          <a:lstStyle/>
          <a:p>
            <a:r>
              <a:rPr lang="en-US" sz="3600" dirty="0">
                <a:latin typeface="+mj-lt"/>
              </a:rPr>
              <a:t>MODULES IN THE SYSTEM:-</a:t>
            </a:r>
            <a:br>
              <a:rPr lang="en-US" sz="3600" dirty="0">
                <a:latin typeface="+mj-lt"/>
              </a:rPr>
            </a:br>
            <a:endParaRPr lang="en-US" sz="3600" dirty="0">
              <a:latin typeface="+mj-lt"/>
            </a:endParaRPr>
          </a:p>
          <a:p>
            <a:r>
              <a:rPr lang="en-US" sz="2800" dirty="0"/>
              <a:t>1)DATA ANALYSIS AND DATA PREPROCESSING</a:t>
            </a:r>
          </a:p>
          <a:p>
            <a:endParaRPr lang="en-US" sz="2800" dirty="0"/>
          </a:p>
          <a:p>
            <a:r>
              <a:rPr lang="en-US" sz="2800" dirty="0"/>
              <a:t>2)MODEL DEVELOPMENT</a:t>
            </a:r>
          </a:p>
          <a:p>
            <a:endParaRPr lang="en-US" sz="2800" dirty="0"/>
          </a:p>
          <a:p>
            <a:r>
              <a:rPr lang="en-US" sz="2800" dirty="0"/>
              <a:t>3)MODEL DEPLOYMENT</a:t>
            </a:r>
          </a:p>
          <a:p>
            <a:endParaRPr lang="en-US" sz="2800" dirty="0"/>
          </a:p>
          <a:p>
            <a:r>
              <a:rPr lang="en-US" sz="2800" dirty="0"/>
              <a:t>4)DATA VISUALIZATION </a:t>
            </a:r>
          </a:p>
          <a:p>
            <a:endParaRPr lang="en-US" dirty="0">
              <a:latin typeface="+mj-lt"/>
            </a:endParaRPr>
          </a:p>
        </p:txBody>
      </p:sp>
    </p:spTree>
    <p:extLst>
      <p:ext uri="{BB962C8B-B14F-4D97-AF65-F5344CB8AC3E}">
        <p14:creationId xmlns:p14="http://schemas.microsoft.com/office/powerpoint/2010/main" val="483707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68CA-2FAA-F1D1-8FBE-C047BF47D04D}"/>
              </a:ext>
            </a:extLst>
          </p:cNvPr>
          <p:cNvSpPr>
            <a:spLocks noGrp="1"/>
          </p:cNvSpPr>
          <p:nvPr>
            <p:ph type="title"/>
          </p:nvPr>
        </p:nvSpPr>
        <p:spPr>
          <a:xfrm>
            <a:off x="914399" y="510362"/>
            <a:ext cx="10360152" cy="584791"/>
          </a:xfrm>
        </p:spPr>
        <p:txBody>
          <a:bodyPr/>
          <a:lstStyle/>
          <a:p>
            <a:r>
              <a:rPr lang="en-US" dirty="0"/>
              <a:t>MODULE-1</a:t>
            </a:r>
          </a:p>
        </p:txBody>
      </p:sp>
      <p:sp>
        <p:nvSpPr>
          <p:cNvPr id="3" name="Content Placeholder 2">
            <a:extLst>
              <a:ext uri="{FF2B5EF4-FFF2-40B4-BE49-F238E27FC236}">
                <a16:creationId xmlns:a16="http://schemas.microsoft.com/office/drawing/2014/main" id="{0ADC743F-1015-0CC5-1E7B-6772ABF66917}"/>
              </a:ext>
            </a:extLst>
          </p:cNvPr>
          <p:cNvSpPr>
            <a:spLocks noGrp="1"/>
          </p:cNvSpPr>
          <p:nvPr>
            <p:ph sz="quarter" idx="12"/>
          </p:nvPr>
        </p:nvSpPr>
        <p:spPr>
          <a:xfrm>
            <a:off x="914399" y="1265274"/>
            <a:ext cx="10792048" cy="4614317"/>
          </a:xfrm>
        </p:spPr>
        <p:txBody>
          <a:bodyPr>
            <a:normAutofit fontScale="92500"/>
          </a:bodyPr>
          <a:lstStyle/>
          <a:p>
            <a:pPr>
              <a:lnSpc>
                <a:spcPct val="94000"/>
              </a:lnSpc>
            </a:pPr>
            <a:r>
              <a:rPr lang="en-IN" sz="2800" b="1" strike="noStrike" spc="-1" dirty="0">
                <a:latin typeface="+mj-lt"/>
                <a:ea typeface="Libre Franklin"/>
              </a:rPr>
              <a:t>Data Analysis  and Data Preprocessing:</a:t>
            </a:r>
            <a:endParaRPr lang="en-IN" sz="2800" b="0" strike="noStrike" spc="-1" dirty="0">
              <a:latin typeface="+mj-lt"/>
            </a:endParaRPr>
          </a:p>
          <a:p>
            <a:pPr>
              <a:lnSpc>
                <a:spcPct val="94000"/>
              </a:lnSpc>
            </a:pPr>
            <a:endParaRPr lang="en-IN" sz="2800" b="0" strike="noStrike" spc="-1" dirty="0">
              <a:latin typeface="+mj-lt"/>
            </a:endParaRPr>
          </a:p>
          <a:p>
            <a:pPr marL="384120" indent="-392040">
              <a:lnSpc>
                <a:spcPct val="94000"/>
              </a:lnSpc>
              <a:buClr>
                <a:srgbClr val="191B0E"/>
              </a:buClr>
              <a:buFont typeface="Libre Franklin"/>
              <a:buChar char="■"/>
            </a:pPr>
            <a:r>
              <a:rPr lang="en-IN" sz="2800" b="0" strike="noStrike" spc="-1" dirty="0">
                <a:ea typeface="Libre Franklin"/>
              </a:rPr>
              <a:t>After collecting the required information from customers we</a:t>
            </a:r>
            <a:endParaRPr lang="en-IN" sz="2800" b="0" strike="noStrike" spc="-1" dirty="0"/>
          </a:p>
          <a:p>
            <a:pPr marL="457200">
              <a:lnSpc>
                <a:spcPct val="94000"/>
              </a:lnSpc>
            </a:pPr>
            <a:r>
              <a:rPr lang="en-IN" sz="2800" b="0" strike="noStrike" spc="-1" dirty="0">
                <a:ea typeface="Libre Franklin"/>
              </a:rPr>
              <a:t>perform qualitative data analysis .</a:t>
            </a:r>
            <a:endParaRPr lang="en-IN" sz="2800" b="0" strike="noStrike" spc="-1" dirty="0"/>
          </a:p>
          <a:p>
            <a:pPr marL="384120" indent="-392040">
              <a:lnSpc>
                <a:spcPct val="94000"/>
              </a:lnSpc>
              <a:spcBef>
                <a:spcPts val="1202"/>
              </a:spcBef>
              <a:buClr>
                <a:srgbClr val="191B0E"/>
              </a:buClr>
              <a:buFont typeface="Libre Franklin"/>
              <a:buChar char="■"/>
            </a:pPr>
            <a:r>
              <a:rPr lang="en-IN" sz="2800" b="0" strike="noStrike" spc="-1" dirty="0">
                <a:ea typeface="Libre Franklin"/>
              </a:rPr>
              <a:t>Steps of Data preprocessing like Data Cleaning , Data Transformation and Data reduction are performed where we remove null  data or unwanted data</a:t>
            </a:r>
            <a:endParaRPr lang="en-IN" sz="2800" b="0" strike="noStrike" spc="-1" dirty="0"/>
          </a:p>
          <a:p>
            <a:pPr marL="384120" indent="-392040">
              <a:lnSpc>
                <a:spcPct val="94000"/>
              </a:lnSpc>
              <a:spcBef>
                <a:spcPts val="1202"/>
              </a:spcBef>
              <a:buClr>
                <a:srgbClr val="191B0E"/>
              </a:buClr>
              <a:buFont typeface="Libre Franklin"/>
              <a:buChar char="■"/>
            </a:pPr>
            <a:r>
              <a:rPr lang="en-IN" sz="2800" b="0" strike="noStrike" spc="-1" dirty="0">
                <a:ea typeface="Libre Franklin"/>
              </a:rPr>
              <a:t>Segment each customer into their respective segments based on important attributes which are </a:t>
            </a:r>
            <a:r>
              <a:rPr lang="en-IN" sz="2800" b="1" strike="noStrike" spc="-1" dirty="0">
                <a:ea typeface="Libre Franklin"/>
              </a:rPr>
              <a:t>‘age’, ‘gender’, ‘income’ and ‘spending score’ </a:t>
            </a:r>
            <a:endParaRPr lang="en-IN" sz="2800" b="0" strike="noStrike" spc="-1" dirty="0"/>
          </a:p>
          <a:p>
            <a:pPr marL="384120" indent="-392040">
              <a:lnSpc>
                <a:spcPct val="94000"/>
              </a:lnSpc>
              <a:spcBef>
                <a:spcPts val="1202"/>
              </a:spcBef>
              <a:buClr>
                <a:srgbClr val="191B0E"/>
              </a:buClr>
              <a:buFont typeface="Libre Franklin"/>
              <a:buChar char="■"/>
            </a:pPr>
            <a:r>
              <a:rPr lang="en-IN" sz="2800" b="0" strike="noStrike" spc="-1" dirty="0">
                <a:ea typeface="Libre Franklin"/>
              </a:rPr>
              <a:t>Import</a:t>
            </a:r>
            <a:r>
              <a:rPr lang="en-IN" sz="2800" b="1" strike="noStrike" spc="-1" dirty="0">
                <a:ea typeface="Libre Franklin"/>
              </a:rPr>
              <a:t> </a:t>
            </a:r>
            <a:r>
              <a:rPr lang="en-IN" sz="2800" b="0" strike="noStrike" spc="-1" dirty="0">
                <a:ea typeface="Libre Franklin"/>
              </a:rPr>
              <a:t>the necessary libraries </a:t>
            </a:r>
            <a:r>
              <a:rPr lang="en-IN" sz="2800" b="0" strike="noStrike" spc="-1" dirty="0" err="1">
                <a:ea typeface="Libre Franklin"/>
              </a:rPr>
              <a:t>i.e</a:t>
            </a:r>
            <a:r>
              <a:rPr lang="en-IN" sz="2800" b="0" strike="noStrike" spc="-1" dirty="0">
                <a:ea typeface="Libre Franklin"/>
              </a:rPr>
              <a:t> numpy,  panda, seaborn and matplotlib</a:t>
            </a:r>
            <a:endParaRPr lang="en-US" sz="2800" dirty="0"/>
          </a:p>
          <a:p>
            <a:endParaRPr lang="en-US" sz="2800" dirty="0">
              <a:latin typeface="+mj-lt"/>
            </a:endParaRPr>
          </a:p>
        </p:txBody>
      </p:sp>
      <p:sp>
        <p:nvSpPr>
          <p:cNvPr id="5" name="Slide Number Placeholder 4">
            <a:extLst>
              <a:ext uri="{FF2B5EF4-FFF2-40B4-BE49-F238E27FC236}">
                <a16:creationId xmlns:a16="http://schemas.microsoft.com/office/drawing/2014/main" id="{0B70EC7A-14D4-E04B-C148-A333EF580275}"/>
              </a:ext>
            </a:extLst>
          </p:cNvPr>
          <p:cNvSpPr>
            <a:spLocks noGrp="1"/>
          </p:cNvSpPr>
          <p:nvPr>
            <p:ph type="sldNum" sz="quarter" idx="4"/>
          </p:nvPr>
        </p:nvSpPr>
        <p:spPr/>
        <p:txBody>
          <a:bodyPr/>
          <a:lstStyle/>
          <a:p>
            <a:fld id="{58FB4751-880F-D840-AAA9-3A15815CC996}" type="slidenum">
              <a:rPr lang="en-US" smtClean="0"/>
              <a:pPr/>
              <a:t>28</a:t>
            </a:fld>
            <a:endParaRPr lang="en-US" dirty="0"/>
          </a:p>
        </p:txBody>
      </p:sp>
    </p:spTree>
    <p:extLst>
      <p:ext uri="{BB962C8B-B14F-4D97-AF65-F5344CB8AC3E}">
        <p14:creationId xmlns:p14="http://schemas.microsoft.com/office/powerpoint/2010/main" val="1113682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B371669-F0CF-E829-E66D-1996B42B05E2}"/>
              </a:ext>
            </a:extLst>
          </p:cNvPr>
          <p:cNvSpPr>
            <a:spLocks noGrp="1"/>
          </p:cNvSpPr>
          <p:nvPr>
            <p:ph type="sldNum" sz="quarter" idx="4"/>
          </p:nvPr>
        </p:nvSpPr>
        <p:spPr/>
        <p:txBody>
          <a:bodyPr/>
          <a:lstStyle/>
          <a:p>
            <a:fld id="{58FB4751-880F-D840-AAA9-3A15815CC996}" type="slidenum">
              <a:rPr lang="en-US" smtClean="0"/>
              <a:pPr/>
              <a:t>29</a:t>
            </a:fld>
            <a:endParaRPr lang="en-US" dirty="0"/>
          </a:p>
        </p:txBody>
      </p:sp>
      <p:sp>
        <p:nvSpPr>
          <p:cNvPr id="6" name="TextBox 5">
            <a:extLst>
              <a:ext uri="{FF2B5EF4-FFF2-40B4-BE49-F238E27FC236}">
                <a16:creationId xmlns:a16="http://schemas.microsoft.com/office/drawing/2014/main" id="{6C252544-26CB-1781-2358-9979BF30AF01}"/>
              </a:ext>
            </a:extLst>
          </p:cNvPr>
          <p:cNvSpPr txBox="1"/>
          <p:nvPr/>
        </p:nvSpPr>
        <p:spPr>
          <a:xfrm>
            <a:off x="1881963" y="350874"/>
            <a:ext cx="8144539" cy="584775"/>
          </a:xfrm>
          <a:prstGeom prst="rect">
            <a:avLst/>
          </a:prstGeom>
          <a:noFill/>
        </p:spPr>
        <p:txBody>
          <a:bodyPr wrap="square" rtlCol="0">
            <a:spAutoFit/>
          </a:bodyPr>
          <a:lstStyle/>
          <a:p>
            <a:pPr algn="ctr"/>
            <a:r>
              <a:rPr lang="en-US" sz="3200" dirty="0"/>
              <a:t>OUTPUT OF MODULE -1</a:t>
            </a:r>
          </a:p>
        </p:txBody>
      </p:sp>
      <p:pic>
        <p:nvPicPr>
          <p:cNvPr id="8" name="Picture 7">
            <a:extLst>
              <a:ext uri="{FF2B5EF4-FFF2-40B4-BE49-F238E27FC236}">
                <a16:creationId xmlns:a16="http://schemas.microsoft.com/office/drawing/2014/main" id="{36E37243-6F7F-A637-8780-4946433C099A}"/>
              </a:ext>
            </a:extLst>
          </p:cNvPr>
          <p:cNvPicPr>
            <a:picLocks noChangeAspect="1"/>
          </p:cNvPicPr>
          <p:nvPr/>
        </p:nvPicPr>
        <p:blipFill>
          <a:blip r:embed="rId2"/>
          <a:stretch>
            <a:fillRect/>
          </a:stretch>
        </p:blipFill>
        <p:spPr>
          <a:xfrm>
            <a:off x="3462336" y="1278565"/>
            <a:ext cx="5267325" cy="1600200"/>
          </a:xfrm>
          <a:prstGeom prst="rect">
            <a:avLst/>
          </a:prstGeom>
        </p:spPr>
      </p:pic>
      <p:pic>
        <p:nvPicPr>
          <p:cNvPr id="10" name="Picture 9">
            <a:extLst>
              <a:ext uri="{FF2B5EF4-FFF2-40B4-BE49-F238E27FC236}">
                <a16:creationId xmlns:a16="http://schemas.microsoft.com/office/drawing/2014/main" id="{6E0CDE69-844E-D8FA-E995-7A0ED18556EC}"/>
              </a:ext>
            </a:extLst>
          </p:cNvPr>
          <p:cNvPicPr>
            <a:picLocks noChangeAspect="1"/>
          </p:cNvPicPr>
          <p:nvPr/>
        </p:nvPicPr>
        <p:blipFill>
          <a:blip r:embed="rId3"/>
          <a:stretch>
            <a:fillRect/>
          </a:stretch>
        </p:blipFill>
        <p:spPr>
          <a:xfrm>
            <a:off x="3667123" y="3313924"/>
            <a:ext cx="4857750" cy="2867025"/>
          </a:xfrm>
          <a:prstGeom prst="rect">
            <a:avLst/>
          </a:prstGeom>
        </p:spPr>
      </p:pic>
    </p:spTree>
    <p:extLst>
      <p:ext uri="{BB962C8B-B14F-4D97-AF65-F5344CB8AC3E}">
        <p14:creationId xmlns:p14="http://schemas.microsoft.com/office/powerpoint/2010/main" val="2927990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D4248-8447-15CF-279D-24242EBA8462}"/>
              </a:ext>
            </a:extLst>
          </p:cNvPr>
          <p:cNvSpPr>
            <a:spLocks noGrp="1"/>
          </p:cNvSpPr>
          <p:nvPr>
            <p:ph type="title"/>
          </p:nvPr>
        </p:nvSpPr>
        <p:spPr>
          <a:xfrm>
            <a:off x="914399" y="372353"/>
            <a:ext cx="10360152" cy="606056"/>
          </a:xfrm>
        </p:spPr>
        <p:txBody>
          <a:bodyPr/>
          <a:lstStyle/>
          <a:p>
            <a:r>
              <a:rPr lang="en-US" b="1" dirty="0"/>
              <a:t>MODULE-2</a:t>
            </a:r>
          </a:p>
        </p:txBody>
      </p:sp>
      <p:sp>
        <p:nvSpPr>
          <p:cNvPr id="3" name="Content Placeholder 2">
            <a:extLst>
              <a:ext uri="{FF2B5EF4-FFF2-40B4-BE49-F238E27FC236}">
                <a16:creationId xmlns:a16="http://schemas.microsoft.com/office/drawing/2014/main" id="{10F8D339-8DE2-0138-821A-A7ED7F1E3932}"/>
              </a:ext>
            </a:extLst>
          </p:cNvPr>
          <p:cNvSpPr>
            <a:spLocks noGrp="1"/>
          </p:cNvSpPr>
          <p:nvPr>
            <p:ph sz="quarter" idx="12"/>
          </p:nvPr>
        </p:nvSpPr>
        <p:spPr>
          <a:xfrm>
            <a:off x="637953" y="978409"/>
            <a:ext cx="10360151" cy="5244191"/>
          </a:xfrm>
        </p:spPr>
        <p:txBody>
          <a:bodyPr>
            <a:noAutofit/>
          </a:bodyPr>
          <a:lstStyle/>
          <a:p>
            <a:pPr marL="457200" indent="-227880">
              <a:lnSpc>
                <a:spcPct val="100000"/>
              </a:lnSpc>
            </a:pPr>
            <a:endParaRPr lang="en-IN" sz="2800" b="0" strike="noStrike" spc="-1" dirty="0">
              <a:latin typeface="+mj-lt"/>
            </a:endParaRPr>
          </a:p>
          <a:p>
            <a:pPr marL="457200" indent="-227880">
              <a:lnSpc>
                <a:spcPct val="100000"/>
              </a:lnSpc>
            </a:pPr>
            <a:r>
              <a:rPr lang="en-IN" sz="2800" b="0" strike="noStrike" spc="-1" dirty="0">
                <a:latin typeface="+mj-lt"/>
                <a:ea typeface="Arial"/>
              </a:rPr>
              <a:t>	</a:t>
            </a:r>
            <a:r>
              <a:rPr lang="en-IN" sz="2800" b="1" strike="noStrike" spc="-1" dirty="0">
                <a:latin typeface="+mj-lt"/>
                <a:ea typeface="Arial"/>
              </a:rPr>
              <a:t>Model Development</a:t>
            </a:r>
            <a:r>
              <a:rPr lang="en-IN" sz="2800" b="0" strike="noStrike" spc="-1" dirty="0">
                <a:latin typeface="+mj-lt"/>
                <a:ea typeface="Arial"/>
              </a:rPr>
              <a:t>:</a:t>
            </a:r>
            <a:endParaRPr lang="en-IN" sz="2800" spc="-1" dirty="0">
              <a:latin typeface="+mj-lt"/>
              <a:ea typeface="Arial"/>
            </a:endParaRPr>
          </a:p>
          <a:p>
            <a:pPr marL="457200" indent="-227880">
              <a:lnSpc>
                <a:spcPct val="100000"/>
              </a:lnSpc>
            </a:pPr>
            <a:endParaRPr lang="en-IN" sz="2800" b="0" strike="noStrike" spc="-1" dirty="0">
              <a:latin typeface="+mj-lt"/>
            </a:endParaRPr>
          </a:p>
          <a:p>
            <a:pPr marL="572220" indent="-342900">
              <a:lnSpc>
                <a:spcPct val="100000"/>
              </a:lnSpc>
              <a:buClr>
                <a:srgbClr val="000000"/>
              </a:buClr>
              <a:buFont typeface="Wingdings" panose="05000000000000000000" pitchFamily="2" charset="2"/>
              <a:buChar char="§"/>
            </a:pPr>
            <a:r>
              <a:rPr lang="en-IN" sz="2800" b="0" strike="noStrike" spc="-1" dirty="0">
                <a:ea typeface="Arial"/>
              </a:rPr>
              <a:t>K-means clustering is used for segment</a:t>
            </a:r>
            <a:r>
              <a:rPr lang="en-IN" sz="2800" spc="-1" dirty="0">
                <a:ea typeface="Arial"/>
              </a:rPr>
              <a:t>at</a:t>
            </a:r>
            <a:r>
              <a:rPr lang="en-IN" sz="2800" b="0" strike="noStrike" spc="-1" dirty="0">
                <a:ea typeface="Arial"/>
              </a:rPr>
              <a:t>ion of data into clusters</a:t>
            </a:r>
            <a:endParaRPr lang="en-IN" sz="2800" b="0" strike="noStrike" spc="-1" dirty="0"/>
          </a:p>
          <a:p>
            <a:pPr marL="514440" indent="-285120">
              <a:lnSpc>
                <a:spcPct val="100000"/>
              </a:lnSpc>
              <a:buClr>
                <a:srgbClr val="000000"/>
              </a:buClr>
              <a:buFont typeface="Wingdings" charset="2"/>
              <a:buChar char=""/>
            </a:pPr>
            <a:r>
              <a:rPr lang="en-IN" sz="2800" b="0" strike="noStrike" spc="-1" dirty="0">
                <a:ea typeface="Arial"/>
              </a:rPr>
              <a:t>The elbow method is used to determine the number of clusters</a:t>
            </a:r>
            <a:endParaRPr lang="en-IN" sz="2800" b="0" strike="noStrike" spc="-1" dirty="0"/>
          </a:p>
          <a:p>
            <a:pPr marL="514440" indent="-285120">
              <a:lnSpc>
                <a:spcPct val="100000"/>
              </a:lnSpc>
              <a:buClr>
                <a:srgbClr val="000000"/>
              </a:buClr>
              <a:buFont typeface="Wingdings" charset="2"/>
              <a:buChar char=""/>
            </a:pPr>
            <a:r>
              <a:rPr lang="en-IN" sz="2800" b="0" strike="noStrike" spc="-1" dirty="0">
                <a:ea typeface="Arial"/>
              </a:rPr>
              <a:t>Identify the sum of squared distances of samples to the nearest cluster centre.</a:t>
            </a:r>
            <a:endParaRPr lang="en-IN" sz="2800" b="0" strike="noStrike" spc="-1" dirty="0"/>
          </a:p>
          <a:p>
            <a:pPr marL="514440" indent="-285120">
              <a:lnSpc>
                <a:spcPct val="100000"/>
              </a:lnSpc>
              <a:buClr>
                <a:srgbClr val="000000"/>
              </a:buClr>
              <a:buFont typeface="Wingdings" charset="2"/>
              <a:buChar char=""/>
            </a:pPr>
            <a:r>
              <a:rPr lang="en-IN" sz="2800" b="0" strike="noStrike" spc="-1" dirty="0">
                <a:ea typeface="Arial"/>
              </a:rPr>
              <a:t>Select the number of clusters</a:t>
            </a:r>
            <a:endParaRPr lang="en-IN" sz="2800" b="0" strike="noStrike" spc="-1" dirty="0"/>
          </a:p>
          <a:p>
            <a:pPr>
              <a:lnSpc>
                <a:spcPct val="100000"/>
              </a:lnSpc>
            </a:pPr>
            <a:endParaRPr lang="en-IN" sz="2800" b="0" strike="noStrike" spc="-1" dirty="0">
              <a:latin typeface="+mj-lt"/>
            </a:endParaRPr>
          </a:p>
          <a:p>
            <a:endParaRPr lang="en-US" sz="2800" dirty="0">
              <a:latin typeface="+mj-lt"/>
            </a:endParaRPr>
          </a:p>
          <a:p>
            <a:endParaRPr lang="en-US" sz="2800" dirty="0">
              <a:latin typeface="+mj-lt"/>
            </a:endParaRPr>
          </a:p>
        </p:txBody>
      </p:sp>
      <p:sp>
        <p:nvSpPr>
          <p:cNvPr id="5" name="Slide Number Placeholder 4">
            <a:extLst>
              <a:ext uri="{FF2B5EF4-FFF2-40B4-BE49-F238E27FC236}">
                <a16:creationId xmlns:a16="http://schemas.microsoft.com/office/drawing/2014/main" id="{10472DC6-19EA-1953-F283-FA16B6D15FCF}"/>
              </a:ext>
            </a:extLst>
          </p:cNvPr>
          <p:cNvSpPr>
            <a:spLocks noGrp="1"/>
          </p:cNvSpPr>
          <p:nvPr>
            <p:ph type="sldNum" sz="quarter" idx="4"/>
          </p:nvPr>
        </p:nvSpPr>
        <p:spPr/>
        <p:txBody>
          <a:bodyPr/>
          <a:lstStyle/>
          <a:p>
            <a:fld id="{58FB4751-880F-D840-AAA9-3A15815CC996}" type="slidenum">
              <a:rPr lang="en-US" smtClean="0"/>
              <a:pPr/>
              <a:t>30</a:t>
            </a:fld>
            <a:endParaRPr lang="en-US" dirty="0"/>
          </a:p>
        </p:txBody>
      </p:sp>
    </p:spTree>
    <p:extLst>
      <p:ext uri="{BB962C8B-B14F-4D97-AF65-F5344CB8AC3E}">
        <p14:creationId xmlns:p14="http://schemas.microsoft.com/office/powerpoint/2010/main" val="3818216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F9E3-D0E9-6E0A-A768-AC85BB400DE0}"/>
              </a:ext>
            </a:extLst>
          </p:cNvPr>
          <p:cNvSpPr>
            <a:spLocks noGrp="1"/>
          </p:cNvSpPr>
          <p:nvPr>
            <p:ph type="title"/>
          </p:nvPr>
        </p:nvSpPr>
        <p:spPr>
          <a:xfrm>
            <a:off x="3091220" y="658924"/>
            <a:ext cx="5358809" cy="914400"/>
          </a:xfrm>
        </p:spPr>
        <p:txBody>
          <a:bodyPr/>
          <a:lstStyle/>
          <a:p>
            <a:r>
              <a:rPr lang="en-US" sz="3200" dirty="0"/>
              <a:t>OUTPUT OF MODULE -2</a:t>
            </a:r>
            <a:br>
              <a:rPr lang="en-US" sz="3200" dirty="0"/>
            </a:br>
            <a:endParaRPr lang="en-US" dirty="0"/>
          </a:p>
        </p:txBody>
      </p:sp>
      <p:pic>
        <p:nvPicPr>
          <p:cNvPr id="7" name="Content Placeholder 6">
            <a:extLst>
              <a:ext uri="{FF2B5EF4-FFF2-40B4-BE49-F238E27FC236}">
                <a16:creationId xmlns:a16="http://schemas.microsoft.com/office/drawing/2014/main" id="{070D74D1-BCF2-0EC0-4EEF-DD894AF7592E}"/>
              </a:ext>
            </a:extLst>
          </p:cNvPr>
          <p:cNvPicPr>
            <a:picLocks noGrp="1" noChangeAspect="1"/>
          </p:cNvPicPr>
          <p:nvPr>
            <p:ph sz="quarter" idx="13"/>
          </p:nvPr>
        </p:nvPicPr>
        <p:blipFill>
          <a:blip r:embed="rId2"/>
          <a:stretch>
            <a:fillRect/>
          </a:stretch>
        </p:blipFill>
        <p:spPr>
          <a:xfrm>
            <a:off x="2753833" y="1669312"/>
            <a:ext cx="5852831" cy="4348716"/>
          </a:xfrm>
        </p:spPr>
      </p:pic>
      <p:sp>
        <p:nvSpPr>
          <p:cNvPr id="5" name="Slide Number Placeholder 4">
            <a:extLst>
              <a:ext uri="{FF2B5EF4-FFF2-40B4-BE49-F238E27FC236}">
                <a16:creationId xmlns:a16="http://schemas.microsoft.com/office/drawing/2014/main" id="{859005AC-80B5-F232-3A3D-09C419775DC2}"/>
              </a:ext>
            </a:extLst>
          </p:cNvPr>
          <p:cNvSpPr>
            <a:spLocks noGrp="1"/>
          </p:cNvSpPr>
          <p:nvPr>
            <p:ph type="sldNum" sz="quarter" idx="4"/>
          </p:nvPr>
        </p:nvSpPr>
        <p:spPr/>
        <p:txBody>
          <a:bodyPr/>
          <a:lstStyle/>
          <a:p>
            <a:fld id="{58FB4751-880F-D840-AAA9-3A15815CC996}" type="slidenum">
              <a:rPr lang="en-US" smtClean="0"/>
              <a:pPr/>
              <a:t>31</a:t>
            </a:fld>
            <a:endParaRPr lang="en-US" dirty="0"/>
          </a:p>
        </p:txBody>
      </p:sp>
    </p:spTree>
    <p:extLst>
      <p:ext uri="{BB962C8B-B14F-4D97-AF65-F5344CB8AC3E}">
        <p14:creationId xmlns:p14="http://schemas.microsoft.com/office/powerpoint/2010/main" val="1216353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E0F0E-B7CC-D983-398F-A6ED0C3C5BA1}"/>
              </a:ext>
            </a:extLst>
          </p:cNvPr>
          <p:cNvSpPr>
            <a:spLocks noGrp="1"/>
          </p:cNvSpPr>
          <p:nvPr>
            <p:ph type="title"/>
          </p:nvPr>
        </p:nvSpPr>
        <p:spPr>
          <a:xfrm>
            <a:off x="829339" y="425302"/>
            <a:ext cx="10360152" cy="914400"/>
          </a:xfrm>
        </p:spPr>
        <p:txBody>
          <a:bodyPr/>
          <a:lstStyle/>
          <a:p>
            <a:r>
              <a:rPr lang="en-US" b="1" dirty="0"/>
              <a:t>MODULE-3</a:t>
            </a:r>
          </a:p>
        </p:txBody>
      </p:sp>
      <p:sp>
        <p:nvSpPr>
          <p:cNvPr id="3" name="Content Placeholder 2">
            <a:extLst>
              <a:ext uri="{FF2B5EF4-FFF2-40B4-BE49-F238E27FC236}">
                <a16:creationId xmlns:a16="http://schemas.microsoft.com/office/drawing/2014/main" id="{91FCAAAD-61A5-E669-E3E2-739187F19B08}"/>
              </a:ext>
            </a:extLst>
          </p:cNvPr>
          <p:cNvSpPr>
            <a:spLocks noGrp="1"/>
          </p:cNvSpPr>
          <p:nvPr>
            <p:ph sz="quarter" idx="12"/>
          </p:nvPr>
        </p:nvSpPr>
        <p:spPr>
          <a:xfrm>
            <a:off x="701074" y="1624441"/>
            <a:ext cx="10983434" cy="3840480"/>
          </a:xfrm>
        </p:spPr>
        <p:txBody>
          <a:bodyPr>
            <a:normAutofit fontScale="85000" lnSpcReduction="10000"/>
          </a:bodyPr>
          <a:lstStyle/>
          <a:p>
            <a:pPr marL="457200" indent="-227880">
              <a:lnSpc>
                <a:spcPct val="100000"/>
              </a:lnSpc>
            </a:pPr>
            <a:r>
              <a:rPr lang="en-IN" sz="2000" b="1" strike="noStrike" spc="-1" dirty="0">
                <a:latin typeface="+mj-lt"/>
                <a:ea typeface="Arial"/>
              </a:rPr>
              <a:t>Model deployment :</a:t>
            </a:r>
            <a:endParaRPr lang="en-IN" sz="2000" b="0" strike="noStrike" spc="-1" dirty="0">
              <a:latin typeface="+mj-lt"/>
            </a:endParaRPr>
          </a:p>
          <a:p>
            <a:pPr marL="457200" indent="-227880">
              <a:lnSpc>
                <a:spcPct val="100000"/>
              </a:lnSpc>
            </a:pPr>
            <a:endParaRPr lang="en-IN" sz="2000" b="0" strike="noStrike" spc="-1" dirty="0">
              <a:latin typeface="+mj-lt"/>
            </a:endParaRPr>
          </a:p>
          <a:p>
            <a:pPr marL="571680" indent="-342360">
              <a:lnSpc>
                <a:spcPct val="100000"/>
              </a:lnSpc>
              <a:buClr>
                <a:srgbClr val="000000"/>
              </a:buClr>
              <a:buFont typeface="Wingdings" charset="2"/>
              <a:buChar char=""/>
            </a:pPr>
            <a:r>
              <a:rPr lang="en-IN" sz="3200" b="0" strike="noStrike" spc="-1" dirty="0">
                <a:ea typeface="Arial"/>
              </a:rPr>
              <a:t>Model deployment is the process of putting machine learning models into production.</a:t>
            </a:r>
            <a:endParaRPr lang="en-IN" sz="3200" b="0" strike="noStrike" spc="-1" dirty="0"/>
          </a:p>
          <a:p>
            <a:pPr>
              <a:lnSpc>
                <a:spcPct val="100000"/>
              </a:lnSpc>
            </a:pPr>
            <a:endParaRPr lang="en-IN" sz="3200" b="0" strike="noStrike" spc="-1" dirty="0"/>
          </a:p>
          <a:p>
            <a:pPr marL="571680" indent="-342360">
              <a:lnSpc>
                <a:spcPct val="100000"/>
              </a:lnSpc>
              <a:buClr>
                <a:srgbClr val="000000"/>
              </a:buClr>
              <a:buFont typeface="Wingdings" charset="2"/>
              <a:buChar char=""/>
            </a:pPr>
            <a:r>
              <a:rPr lang="en-IN" sz="3200" b="0" strike="noStrike" spc="-1" dirty="0">
                <a:ea typeface="Arial"/>
              </a:rPr>
              <a:t>The model  analyzes the data.</a:t>
            </a:r>
            <a:endParaRPr lang="en-IN" sz="3200" b="0" strike="noStrike" spc="-1" dirty="0"/>
          </a:p>
          <a:p>
            <a:pPr>
              <a:lnSpc>
                <a:spcPct val="100000"/>
              </a:lnSpc>
            </a:pPr>
            <a:endParaRPr lang="en-IN" sz="3200" b="0" strike="noStrike" spc="-1" dirty="0"/>
          </a:p>
          <a:p>
            <a:pPr marL="571680" indent="-342360">
              <a:lnSpc>
                <a:spcPct val="100000"/>
              </a:lnSpc>
              <a:buClr>
                <a:srgbClr val="000000"/>
              </a:buClr>
              <a:buFont typeface="Wingdings" charset="2"/>
              <a:buChar char=""/>
            </a:pPr>
            <a:r>
              <a:rPr lang="en-IN" sz="3200" b="0" strike="noStrike" spc="-1" dirty="0">
                <a:ea typeface="Arial"/>
              </a:rPr>
              <a:t>We get the final results as the graphs  emphasizing our target customers </a:t>
            </a:r>
            <a:endParaRPr lang="en-IN" sz="3200" b="0" strike="noStrike" spc="-1" dirty="0"/>
          </a:p>
          <a:p>
            <a:endParaRPr lang="en-US" sz="2000" dirty="0">
              <a:latin typeface="+mj-lt"/>
            </a:endParaRPr>
          </a:p>
          <a:p>
            <a:endParaRPr lang="en-US" dirty="0">
              <a:latin typeface="+mj-lt"/>
            </a:endParaRPr>
          </a:p>
        </p:txBody>
      </p:sp>
      <p:sp>
        <p:nvSpPr>
          <p:cNvPr id="5" name="Slide Number Placeholder 4">
            <a:extLst>
              <a:ext uri="{FF2B5EF4-FFF2-40B4-BE49-F238E27FC236}">
                <a16:creationId xmlns:a16="http://schemas.microsoft.com/office/drawing/2014/main" id="{298701F4-226D-5082-8983-9429D4C69127}"/>
              </a:ext>
            </a:extLst>
          </p:cNvPr>
          <p:cNvSpPr>
            <a:spLocks noGrp="1"/>
          </p:cNvSpPr>
          <p:nvPr>
            <p:ph type="sldNum" sz="quarter" idx="4"/>
          </p:nvPr>
        </p:nvSpPr>
        <p:spPr/>
        <p:txBody>
          <a:bodyPr/>
          <a:lstStyle/>
          <a:p>
            <a:fld id="{58FB4751-880F-D840-AAA9-3A15815CC996}" type="slidenum">
              <a:rPr lang="en-US" smtClean="0"/>
              <a:pPr/>
              <a:t>32</a:t>
            </a:fld>
            <a:endParaRPr lang="en-US" dirty="0"/>
          </a:p>
        </p:txBody>
      </p:sp>
    </p:spTree>
    <p:extLst>
      <p:ext uri="{BB962C8B-B14F-4D97-AF65-F5344CB8AC3E}">
        <p14:creationId xmlns:p14="http://schemas.microsoft.com/office/powerpoint/2010/main" val="2371767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59E5D-D629-2162-18F4-5F56C24DD10C}"/>
              </a:ext>
            </a:extLst>
          </p:cNvPr>
          <p:cNvSpPr>
            <a:spLocks noGrp="1"/>
          </p:cNvSpPr>
          <p:nvPr>
            <p:ph type="title"/>
          </p:nvPr>
        </p:nvSpPr>
        <p:spPr>
          <a:xfrm>
            <a:off x="921259" y="255181"/>
            <a:ext cx="10360152" cy="659219"/>
          </a:xfrm>
        </p:spPr>
        <p:txBody>
          <a:bodyPr/>
          <a:lstStyle/>
          <a:p>
            <a:pPr algn="ctr"/>
            <a:r>
              <a:rPr lang="en-US" b="1" dirty="0"/>
              <a:t>OUTPUT OF MODULE-3</a:t>
            </a:r>
          </a:p>
        </p:txBody>
      </p:sp>
      <p:sp>
        <p:nvSpPr>
          <p:cNvPr id="5" name="Slide Number Placeholder 4">
            <a:extLst>
              <a:ext uri="{FF2B5EF4-FFF2-40B4-BE49-F238E27FC236}">
                <a16:creationId xmlns:a16="http://schemas.microsoft.com/office/drawing/2014/main" id="{D1F214F0-AB65-CEA5-24DA-3B621FA18B7E}"/>
              </a:ext>
            </a:extLst>
          </p:cNvPr>
          <p:cNvSpPr>
            <a:spLocks noGrp="1"/>
          </p:cNvSpPr>
          <p:nvPr>
            <p:ph type="sldNum" sz="quarter" idx="4"/>
          </p:nvPr>
        </p:nvSpPr>
        <p:spPr/>
        <p:txBody>
          <a:bodyPr/>
          <a:lstStyle/>
          <a:p>
            <a:fld id="{58FB4751-880F-D840-AAA9-3A15815CC996}" type="slidenum">
              <a:rPr lang="en-US" smtClean="0"/>
              <a:pPr/>
              <a:t>33</a:t>
            </a:fld>
            <a:endParaRPr lang="en-US" dirty="0"/>
          </a:p>
        </p:txBody>
      </p:sp>
      <p:pic>
        <p:nvPicPr>
          <p:cNvPr id="7" name="Picture 6">
            <a:extLst>
              <a:ext uri="{FF2B5EF4-FFF2-40B4-BE49-F238E27FC236}">
                <a16:creationId xmlns:a16="http://schemas.microsoft.com/office/drawing/2014/main" id="{D91594DD-80C4-8D08-5074-DB909243AE13}"/>
              </a:ext>
            </a:extLst>
          </p:cNvPr>
          <p:cNvPicPr>
            <a:picLocks noChangeAspect="1"/>
          </p:cNvPicPr>
          <p:nvPr/>
        </p:nvPicPr>
        <p:blipFill>
          <a:blip r:embed="rId2"/>
          <a:stretch>
            <a:fillRect/>
          </a:stretch>
        </p:blipFill>
        <p:spPr>
          <a:xfrm>
            <a:off x="3357562" y="1614044"/>
            <a:ext cx="5476875" cy="3438525"/>
          </a:xfrm>
          <a:prstGeom prst="rect">
            <a:avLst/>
          </a:prstGeom>
        </p:spPr>
      </p:pic>
    </p:spTree>
    <p:extLst>
      <p:ext uri="{BB962C8B-B14F-4D97-AF65-F5344CB8AC3E}">
        <p14:creationId xmlns:p14="http://schemas.microsoft.com/office/powerpoint/2010/main" val="2253272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41079-3A3B-95FC-BE35-00EEB83A84EC}"/>
              </a:ext>
            </a:extLst>
          </p:cNvPr>
          <p:cNvSpPr>
            <a:spLocks noGrp="1"/>
          </p:cNvSpPr>
          <p:nvPr>
            <p:ph type="title"/>
          </p:nvPr>
        </p:nvSpPr>
        <p:spPr>
          <a:xfrm>
            <a:off x="687088" y="297712"/>
            <a:ext cx="2753833" cy="542260"/>
          </a:xfrm>
        </p:spPr>
        <p:txBody>
          <a:bodyPr/>
          <a:lstStyle/>
          <a:p>
            <a:r>
              <a:rPr lang="en-US" b="1" dirty="0"/>
              <a:t>MODULE-4</a:t>
            </a:r>
          </a:p>
        </p:txBody>
      </p:sp>
      <p:sp>
        <p:nvSpPr>
          <p:cNvPr id="4" name="Content Placeholder 3">
            <a:extLst>
              <a:ext uri="{FF2B5EF4-FFF2-40B4-BE49-F238E27FC236}">
                <a16:creationId xmlns:a16="http://schemas.microsoft.com/office/drawing/2014/main" id="{4156210B-E3C3-ADFE-B1DB-9CFDAD9A340F}"/>
              </a:ext>
            </a:extLst>
          </p:cNvPr>
          <p:cNvSpPr>
            <a:spLocks noGrp="1"/>
          </p:cNvSpPr>
          <p:nvPr>
            <p:ph sz="quarter" idx="13"/>
          </p:nvPr>
        </p:nvSpPr>
        <p:spPr>
          <a:xfrm>
            <a:off x="495702" y="967562"/>
            <a:ext cx="10360152" cy="5284381"/>
          </a:xfrm>
        </p:spPr>
        <p:txBody>
          <a:bodyPr>
            <a:normAutofit lnSpcReduction="10000"/>
          </a:bodyPr>
          <a:lstStyle/>
          <a:p>
            <a:pPr marL="229320" indent="0">
              <a:lnSpc>
                <a:spcPct val="100000"/>
              </a:lnSpc>
              <a:buNone/>
            </a:pPr>
            <a:r>
              <a:rPr lang="en-IN" sz="2000" b="0" strike="noStrike" spc="-1" dirty="0">
                <a:solidFill>
                  <a:srgbClr val="000000"/>
                </a:solidFill>
                <a:latin typeface="+mj-lt"/>
                <a:ea typeface="Arial"/>
              </a:rPr>
              <a:t> </a:t>
            </a:r>
            <a:r>
              <a:rPr lang="en-IN" sz="2000" b="1" strike="noStrike" spc="-1" dirty="0">
                <a:latin typeface="+mj-lt"/>
                <a:ea typeface="Arial"/>
              </a:rPr>
              <a:t> </a:t>
            </a:r>
            <a:r>
              <a:rPr lang="en-IN" b="1" spc="-1" dirty="0">
                <a:latin typeface="+mj-lt"/>
                <a:ea typeface="Arial"/>
              </a:rPr>
              <a:t>Data </a:t>
            </a:r>
            <a:r>
              <a:rPr lang="en-IN" sz="2000" b="1" strike="noStrike" spc="-1" dirty="0">
                <a:latin typeface="+mj-lt"/>
                <a:ea typeface="Arial"/>
              </a:rPr>
              <a:t>Visualisation :</a:t>
            </a:r>
            <a:endParaRPr lang="en-IN" sz="2000" b="0" strike="noStrike" spc="-1" dirty="0">
              <a:latin typeface="+mj-lt"/>
            </a:endParaRPr>
          </a:p>
          <a:p>
            <a:pPr marL="229320" indent="0">
              <a:lnSpc>
                <a:spcPct val="100000"/>
              </a:lnSpc>
              <a:buNone/>
            </a:pPr>
            <a:endParaRPr lang="en-IN" sz="1600" b="0" strike="noStrike" spc="-1" dirty="0">
              <a:latin typeface="+mj-lt"/>
            </a:endParaRPr>
          </a:p>
          <a:p>
            <a:pPr marL="572220" indent="-342900">
              <a:lnSpc>
                <a:spcPct val="100000"/>
              </a:lnSpc>
              <a:buClr>
                <a:srgbClr val="000000"/>
              </a:buClr>
              <a:buFont typeface="Wingdings" panose="05000000000000000000" pitchFamily="2" charset="2"/>
              <a:buChar char="§"/>
            </a:pPr>
            <a:r>
              <a:rPr lang="en-IN" sz="2400" b="0" strike="noStrike" spc="-1" dirty="0">
                <a:solidFill>
                  <a:srgbClr val="000000"/>
                </a:solidFill>
                <a:ea typeface="Arial"/>
              </a:rPr>
              <a:t>Data visualization is a way to represent information graphically, highlighting patterns and trends in data and helping the reader to achieve quick insights.   </a:t>
            </a:r>
            <a:endParaRPr lang="en-IN" sz="2400" b="0" strike="noStrike" spc="-1" dirty="0"/>
          </a:p>
          <a:p>
            <a:pPr>
              <a:lnSpc>
                <a:spcPct val="100000"/>
              </a:lnSpc>
              <a:buFont typeface="Wingdings" panose="05000000000000000000" pitchFamily="2" charset="2"/>
              <a:buChar char="§"/>
            </a:pPr>
            <a:endParaRPr lang="en-IN" sz="2400" b="0" strike="noStrike" spc="-1" dirty="0"/>
          </a:p>
          <a:p>
            <a:pPr marL="515070" indent="-285750">
              <a:lnSpc>
                <a:spcPct val="100000"/>
              </a:lnSpc>
              <a:buClr>
                <a:srgbClr val="000000"/>
              </a:buClr>
              <a:buFont typeface="Wingdings" panose="05000000000000000000" pitchFamily="2" charset="2"/>
              <a:buChar char="§"/>
            </a:pPr>
            <a:r>
              <a:rPr lang="en-IN" sz="2400" b="0" strike="noStrike" spc="-1" dirty="0">
                <a:solidFill>
                  <a:srgbClr val="000000"/>
                </a:solidFill>
                <a:ea typeface="Arial"/>
              </a:rPr>
              <a:t> Plot important information so that we can see the different values of our data and its behaviour. </a:t>
            </a:r>
            <a:endParaRPr lang="en-IN" sz="2400" b="0" strike="noStrike" spc="-1" dirty="0"/>
          </a:p>
          <a:p>
            <a:pPr>
              <a:lnSpc>
                <a:spcPct val="100000"/>
              </a:lnSpc>
              <a:buFont typeface="Wingdings" panose="05000000000000000000" pitchFamily="2" charset="2"/>
              <a:buChar char="§"/>
            </a:pPr>
            <a:endParaRPr lang="en-IN" sz="2400" b="0" strike="noStrike" spc="-1" dirty="0"/>
          </a:p>
          <a:p>
            <a:pPr marL="572220" indent="-342900">
              <a:lnSpc>
                <a:spcPct val="100000"/>
              </a:lnSpc>
              <a:buClr>
                <a:srgbClr val="000000"/>
              </a:buClr>
              <a:buFont typeface="Wingdings" panose="05000000000000000000" pitchFamily="2" charset="2"/>
              <a:buChar char="§"/>
            </a:pPr>
            <a:r>
              <a:rPr lang="en-IN" sz="2400" b="0" strike="noStrike" spc="-1" dirty="0">
                <a:solidFill>
                  <a:srgbClr val="000000"/>
                </a:solidFill>
                <a:ea typeface="Arial"/>
              </a:rPr>
              <a:t>Gender will only be used to make data separation so we can differentiate values for men and women.</a:t>
            </a:r>
            <a:endParaRPr lang="en-IN" sz="2400" b="0" strike="noStrike" spc="-1" dirty="0"/>
          </a:p>
          <a:p>
            <a:pPr>
              <a:lnSpc>
                <a:spcPct val="100000"/>
              </a:lnSpc>
              <a:buFont typeface="Wingdings" panose="05000000000000000000" pitchFamily="2" charset="2"/>
              <a:buChar char="§"/>
            </a:pPr>
            <a:endParaRPr lang="en-IN" sz="2400" b="0" strike="noStrike" spc="-1" dirty="0"/>
          </a:p>
          <a:p>
            <a:pPr marL="572220" indent="-342900">
              <a:lnSpc>
                <a:spcPct val="100000"/>
              </a:lnSpc>
              <a:buClr>
                <a:srgbClr val="000000"/>
              </a:buClr>
              <a:buFont typeface="Wingdings" panose="05000000000000000000" pitchFamily="2" charset="2"/>
              <a:buChar char="§"/>
            </a:pPr>
            <a:r>
              <a:rPr lang="en-IN" sz="2400" b="0" strike="noStrike" spc="-1" dirty="0">
                <a:solidFill>
                  <a:srgbClr val="000000"/>
                </a:solidFill>
                <a:ea typeface="Arial"/>
              </a:rPr>
              <a:t>We are plotting the histograms for each of the four attributes.</a:t>
            </a:r>
            <a:endParaRPr lang="en-IN" sz="2400" b="0" strike="noStrike" spc="-1" dirty="0"/>
          </a:p>
          <a:p>
            <a:pPr marL="572220" indent="-342900">
              <a:lnSpc>
                <a:spcPct val="100000"/>
              </a:lnSpc>
              <a:buFont typeface="Wingdings" panose="05000000000000000000" pitchFamily="2" charset="2"/>
              <a:buChar char="§"/>
            </a:pPr>
            <a:endParaRPr lang="en-IN" sz="2000" b="0" strike="noStrike" spc="-1" dirty="0">
              <a:latin typeface="+mj-lt"/>
            </a:endParaRPr>
          </a:p>
          <a:p>
            <a:pPr marL="572220" indent="-342900">
              <a:lnSpc>
                <a:spcPct val="100000"/>
              </a:lnSpc>
              <a:buFont typeface="Wingdings" panose="05000000000000000000" pitchFamily="2" charset="2"/>
              <a:buChar char="§"/>
            </a:pPr>
            <a:endParaRPr lang="en-IN" sz="2000" b="0" strike="noStrike" spc="-1" dirty="0">
              <a:latin typeface="+mj-lt"/>
            </a:endParaRPr>
          </a:p>
          <a:p>
            <a:pPr>
              <a:buFont typeface="Wingdings" panose="05000000000000000000" pitchFamily="2" charset="2"/>
              <a:buChar char="§"/>
            </a:pPr>
            <a:endParaRPr lang="en-US" dirty="0">
              <a:latin typeface="+mj-lt"/>
            </a:endParaRPr>
          </a:p>
        </p:txBody>
      </p:sp>
      <p:sp>
        <p:nvSpPr>
          <p:cNvPr id="5" name="Slide Number Placeholder 4">
            <a:extLst>
              <a:ext uri="{FF2B5EF4-FFF2-40B4-BE49-F238E27FC236}">
                <a16:creationId xmlns:a16="http://schemas.microsoft.com/office/drawing/2014/main" id="{77149700-BC48-10B9-8507-315695CD4BFE}"/>
              </a:ext>
            </a:extLst>
          </p:cNvPr>
          <p:cNvSpPr>
            <a:spLocks noGrp="1"/>
          </p:cNvSpPr>
          <p:nvPr>
            <p:ph type="sldNum" sz="quarter" idx="4"/>
          </p:nvPr>
        </p:nvSpPr>
        <p:spPr/>
        <p:txBody>
          <a:bodyPr/>
          <a:lstStyle/>
          <a:p>
            <a:fld id="{58FB4751-880F-D840-AAA9-3A15815CC996}" type="slidenum">
              <a:rPr lang="en-US" smtClean="0"/>
              <a:pPr/>
              <a:t>34</a:t>
            </a:fld>
            <a:endParaRPr lang="en-US" dirty="0"/>
          </a:p>
        </p:txBody>
      </p:sp>
    </p:spTree>
    <p:extLst>
      <p:ext uri="{BB962C8B-B14F-4D97-AF65-F5344CB8AC3E}">
        <p14:creationId xmlns:p14="http://schemas.microsoft.com/office/powerpoint/2010/main" val="795972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35EEC-66A8-C814-476B-BF4F057150EC}"/>
              </a:ext>
            </a:extLst>
          </p:cNvPr>
          <p:cNvSpPr>
            <a:spLocks noGrp="1"/>
          </p:cNvSpPr>
          <p:nvPr>
            <p:ph type="sldNum" sz="quarter" idx="4"/>
          </p:nvPr>
        </p:nvSpPr>
        <p:spPr/>
        <p:txBody>
          <a:bodyPr/>
          <a:lstStyle/>
          <a:p>
            <a:fld id="{58FB4751-880F-D840-AAA9-3A15815CC996}" type="slidenum">
              <a:rPr lang="en-US" smtClean="0"/>
              <a:pPr/>
              <a:t>35</a:t>
            </a:fld>
            <a:endParaRPr lang="en-US" dirty="0"/>
          </a:p>
        </p:txBody>
      </p:sp>
      <p:pic>
        <p:nvPicPr>
          <p:cNvPr id="5" name="Picture 4">
            <a:extLst>
              <a:ext uri="{FF2B5EF4-FFF2-40B4-BE49-F238E27FC236}">
                <a16:creationId xmlns:a16="http://schemas.microsoft.com/office/drawing/2014/main" id="{485DE45A-69F7-C78D-3C72-620E83F679F3}"/>
              </a:ext>
            </a:extLst>
          </p:cNvPr>
          <p:cNvPicPr>
            <a:picLocks noChangeAspect="1"/>
          </p:cNvPicPr>
          <p:nvPr/>
        </p:nvPicPr>
        <p:blipFill>
          <a:blip r:embed="rId2"/>
          <a:stretch>
            <a:fillRect/>
          </a:stretch>
        </p:blipFill>
        <p:spPr>
          <a:xfrm>
            <a:off x="1116197" y="1341584"/>
            <a:ext cx="2495550" cy="2409825"/>
          </a:xfrm>
          <a:prstGeom prst="rect">
            <a:avLst/>
          </a:prstGeom>
        </p:spPr>
      </p:pic>
      <p:pic>
        <p:nvPicPr>
          <p:cNvPr id="7" name="Picture 6">
            <a:extLst>
              <a:ext uri="{FF2B5EF4-FFF2-40B4-BE49-F238E27FC236}">
                <a16:creationId xmlns:a16="http://schemas.microsoft.com/office/drawing/2014/main" id="{439357A8-D94B-1F81-56B2-F93FFC5D1505}"/>
              </a:ext>
            </a:extLst>
          </p:cNvPr>
          <p:cNvPicPr>
            <a:picLocks noChangeAspect="1"/>
          </p:cNvPicPr>
          <p:nvPr/>
        </p:nvPicPr>
        <p:blipFill>
          <a:blip r:embed="rId3"/>
          <a:stretch>
            <a:fillRect/>
          </a:stretch>
        </p:blipFill>
        <p:spPr>
          <a:xfrm>
            <a:off x="4715318" y="1343466"/>
            <a:ext cx="2761364" cy="2438400"/>
          </a:xfrm>
          <a:prstGeom prst="rect">
            <a:avLst/>
          </a:prstGeom>
        </p:spPr>
      </p:pic>
      <p:pic>
        <p:nvPicPr>
          <p:cNvPr id="9" name="Picture 8">
            <a:extLst>
              <a:ext uri="{FF2B5EF4-FFF2-40B4-BE49-F238E27FC236}">
                <a16:creationId xmlns:a16="http://schemas.microsoft.com/office/drawing/2014/main" id="{57703A92-69E5-CC81-6360-08B3F305160B}"/>
              </a:ext>
            </a:extLst>
          </p:cNvPr>
          <p:cNvPicPr>
            <a:picLocks noChangeAspect="1"/>
          </p:cNvPicPr>
          <p:nvPr/>
        </p:nvPicPr>
        <p:blipFill>
          <a:blip r:embed="rId4"/>
          <a:stretch>
            <a:fillRect/>
          </a:stretch>
        </p:blipFill>
        <p:spPr>
          <a:xfrm>
            <a:off x="8267700" y="1341584"/>
            <a:ext cx="3086100" cy="2343150"/>
          </a:xfrm>
          <a:prstGeom prst="rect">
            <a:avLst/>
          </a:prstGeom>
        </p:spPr>
      </p:pic>
      <p:sp>
        <p:nvSpPr>
          <p:cNvPr id="11" name="TextBox 10">
            <a:extLst>
              <a:ext uri="{FF2B5EF4-FFF2-40B4-BE49-F238E27FC236}">
                <a16:creationId xmlns:a16="http://schemas.microsoft.com/office/drawing/2014/main" id="{4760F1B0-0302-C4B3-275C-32C3617DB53E}"/>
              </a:ext>
            </a:extLst>
          </p:cNvPr>
          <p:cNvSpPr txBox="1"/>
          <p:nvPr/>
        </p:nvSpPr>
        <p:spPr>
          <a:xfrm>
            <a:off x="1116197" y="3965944"/>
            <a:ext cx="2495550" cy="1754326"/>
          </a:xfrm>
          <a:prstGeom prst="rect">
            <a:avLst/>
          </a:prstGeom>
          <a:noFill/>
        </p:spPr>
        <p:txBody>
          <a:bodyPr wrap="square" rtlCol="0">
            <a:spAutoFit/>
          </a:bodyPr>
          <a:lstStyle/>
          <a:p>
            <a:r>
              <a:rPr lang="en-IN" sz="1800" b="0" strike="noStrike" spc="-1" dirty="0">
                <a:latin typeface="Libre Franklin"/>
                <a:ea typeface="Libre Franklin"/>
              </a:rPr>
              <a:t>Collecting the age samples from the dataset and plotting it in the graphs</a:t>
            </a:r>
            <a:endParaRPr lang="en-IN" sz="1800" b="0" strike="noStrike" spc="-1" dirty="0">
              <a:latin typeface="Arial"/>
            </a:endParaRPr>
          </a:p>
          <a:p>
            <a:endParaRPr lang="en-US" dirty="0"/>
          </a:p>
          <a:p>
            <a:endParaRPr lang="en-US" dirty="0"/>
          </a:p>
        </p:txBody>
      </p:sp>
      <p:sp>
        <p:nvSpPr>
          <p:cNvPr id="12" name="TextBox 11">
            <a:extLst>
              <a:ext uri="{FF2B5EF4-FFF2-40B4-BE49-F238E27FC236}">
                <a16:creationId xmlns:a16="http://schemas.microsoft.com/office/drawing/2014/main" id="{011549A4-BEDE-E16A-47EC-3705D36D5C29}"/>
              </a:ext>
            </a:extLst>
          </p:cNvPr>
          <p:cNvSpPr txBox="1"/>
          <p:nvPr/>
        </p:nvSpPr>
        <p:spPr>
          <a:xfrm>
            <a:off x="4715318" y="3965944"/>
            <a:ext cx="2761364" cy="2308324"/>
          </a:xfrm>
          <a:prstGeom prst="rect">
            <a:avLst/>
          </a:prstGeom>
          <a:noFill/>
        </p:spPr>
        <p:txBody>
          <a:bodyPr wrap="square" rtlCol="0">
            <a:spAutoFit/>
          </a:bodyPr>
          <a:lstStyle/>
          <a:p>
            <a:r>
              <a:rPr lang="en-IN" sz="1800" b="0" strike="noStrike" spc="-1" dirty="0">
                <a:latin typeface="Libre Franklin"/>
                <a:ea typeface="Libre Franklin"/>
              </a:rPr>
              <a:t>Annual and spending score is collected and added into the dataset to train the model based on these parameters</a:t>
            </a:r>
            <a:endParaRPr lang="en-IN" sz="1800" b="0" strike="noStrike" spc="-1" dirty="0">
              <a:latin typeface="Arial"/>
            </a:endParaRPr>
          </a:p>
          <a:p>
            <a:endParaRPr lang="en-US" dirty="0"/>
          </a:p>
          <a:p>
            <a:endParaRPr lang="en-US" dirty="0"/>
          </a:p>
        </p:txBody>
      </p:sp>
      <p:sp>
        <p:nvSpPr>
          <p:cNvPr id="13" name="TextBox 12">
            <a:extLst>
              <a:ext uri="{FF2B5EF4-FFF2-40B4-BE49-F238E27FC236}">
                <a16:creationId xmlns:a16="http://schemas.microsoft.com/office/drawing/2014/main" id="{D44D91E3-DD56-DF94-4695-D24A842755D9}"/>
              </a:ext>
            </a:extLst>
          </p:cNvPr>
          <p:cNvSpPr txBox="1"/>
          <p:nvPr/>
        </p:nvSpPr>
        <p:spPr>
          <a:xfrm>
            <a:off x="8267700" y="3965944"/>
            <a:ext cx="3086100" cy="2083982"/>
          </a:xfrm>
          <a:prstGeom prst="rect">
            <a:avLst/>
          </a:prstGeom>
          <a:noFill/>
        </p:spPr>
        <p:txBody>
          <a:bodyPr wrap="square" rtlCol="0">
            <a:spAutoFit/>
          </a:bodyPr>
          <a:lstStyle/>
          <a:p>
            <a:r>
              <a:rPr lang="en-IN" sz="1800" b="0" strike="noStrike" spc="-1" dirty="0">
                <a:latin typeface="Libre Franklin"/>
                <a:ea typeface="Libre Franklin"/>
              </a:rPr>
              <a:t>Distribution of gender is an  important parameter as many products are categorized based on gender</a:t>
            </a:r>
            <a:endParaRPr lang="en-IN" sz="1800" b="0" strike="noStrike" spc="-1" dirty="0">
              <a:latin typeface="Arial"/>
            </a:endParaRPr>
          </a:p>
          <a:p>
            <a:endParaRPr lang="en-US" dirty="0"/>
          </a:p>
          <a:p>
            <a:endParaRPr lang="en-US" dirty="0"/>
          </a:p>
        </p:txBody>
      </p:sp>
      <p:sp>
        <p:nvSpPr>
          <p:cNvPr id="6" name="TextBox 5">
            <a:extLst>
              <a:ext uri="{FF2B5EF4-FFF2-40B4-BE49-F238E27FC236}">
                <a16:creationId xmlns:a16="http://schemas.microsoft.com/office/drawing/2014/main" id="{AAE1F3B6-C3C4-9DAE-3665-16C6C8024281}"/>
              </a:ext>
            </a:extLst>
          </p:cNvPr>
          <p:cNvSpPr txBox="1"/>
          <p:nvPr/>
        </p:nvSpPr>
        <p:spPr>
          <a:xfrm>
            <a:off x="4104167" y="284854"/>
            <a:ext cx="5556398" cy="584775"/>
          </a:xfrm>
          <a:prstGeom prst="rect">
            <a:avLst/>
          </a:prstGeom>
          <a:noFill/>
        </p:spPr>
        <p:txBody>
          <a:bodyPr wrap="square" rtlCol="0">
            <a:spAutoFit/>
          </a:bodyPr>
          <a:lstStyle/>
          <a:p>
            <a:r>
              <a:rPr lang="en-US" sz="3200" b="1" dirty="0">
                <a:latin typeface="+mj-lt"/>
              </a:rPr>
              <a:t>OUTPUT OF MODULE-4</a:t>
            </a:r>
          </a:p>
        </p:txBody>
      </p:sp>
    </p:spTree>
    <p:extLst>
      <p:ext uri="{BB962C8B-B14F-4D97-AF65-F5344CB8AC3E}">
        <p14:creationId xmlns:p14="http://schemas.microsoft.com/office/powerpoint/2010/main" val="941580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04F812-7A50-BCD8-318B-3B49D5B4F7D4}"/>
              </a:ext>
            </a:extLst>
          </p:cNvPr>
          <p:cNvSpPr>
            <a:spLocks noGrp="1"/>
          </p:cNvSpPr>
          <p:nvPr>
            <p:ph type="sldNum" sz="quarter" idx="4"/>
          </p:nvPr>
        </p:nvSpPr>
        <p:spPr/>
        <p:txBody>
          <a:bodyPr/>
          <a:lstStyle/>
          <a:p>
            <a:fld id="{58FB4751-880F-D840-AAA9-3A15815CC996}" type="slidenum">
              <a:rPr lang="en-US" smtClean="0"/>
              <a:pPr/>
              <a:t>36</a:t>
            </a:fld>
            <a:endParaRPr lang="en-US" dirty="0"/>
          </a:p>
        </p:txBody>
      </p:sp>
      <p:pic>
        <p:nvPicPr>
          <p:cNvPr id="4" name="Picture 3">
            <a:extLst>
              <a:ext uri="{FF2B5EF4-FFF2-40B4-BE49-F238E27FC236}">
                <a16:creationId xmlns:a16="http://schemas.microsoft.com/office/drawing/2014/main" id="{A59EE6A8-9DC0-409D-78CD-5E5AC60AB2B1}"/>
              </a:ext>
            </a:extLst>
          </p:cNvPr>
          <p:cNvPicPr>
            <a:picLocks noChangeAspect="1"/>
          </p:cNvPicPr>
          <p:nvPr/>
        </p:nvPicPr>
        <p:blipFill>
          <a:blip r:embed="rId2"/>
          <a:stretch>
            <a:fillRect/>
          </a:stretch>
        </p:blipFill>
        <p:spPr>
          <a:xfrm>
            <a:off x="2266950" y="542259"/>
            <a:ext cx="7658100" cy="5571461"/>
          </a:xfrm>
          <a:prstGeom prst="rect">
            <a:avLst/>
          </a:prstGeom>
        </p:spPr>
      </p:pic>
    </p:spTree>
    <p:extLst>
      <p:ext uri="{BB962C8B-B14F-4D97-AF65-F5344CB8AC3E}">
        <p14:creationId xmlns:p14="http://schemas.microsoft.com/office/powerpoint/2010/main" val="1475965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1695B6-B90A-5F66-E2F9-B8E8D1ED12C4}"/>
              </a:ext>
            </a:extLst>
          </p:cNvPr>
          <p:cNvSpPr>
            <a:spLocks noGrp="1"/>
          </p:cNvSpPr>
          <p:nvPr>
            <p:ph type="sldNum" sz="quarter" idx="4"/>
          </p:nvPr>
        </p:nvSpPr>
        <p:spPr/>
        <p:txBody>
          <a:bodyPr/>
          <a:lstStyle/>
          <a:p>
            <a:fld id="{58FB4751-880F-D840-AAA9-3A15815CC996}" type="slidenum">
              <a:rPr lang="en-US" smtClean="0"/>
              <a:pPr/>
              <a:t>37</a:t>
            </a:fld>
            <a:endParaRPr lang="en-US" dirty="0"/>
          </a:p>
        </p:txBody>
      </p:sp>
      <p:pic>
        <p:nvPicPr>
          <p:cNvPr id="4" name="Picture 3">
            <a:extLst>
              <a:ext uri="{FF2B5EF4-FFF2-40B4-BE49-F238E27FC236}">
                <a16:creationId xmlns:a16="http://schemas.microsoft.com/office/drawing/2014/main" id="{0D1FDFFB-BBA1-CB59-D9C1-0730C5C06A96}"/>
              </a:ext>
            </a:extLst>
          </p:cNvPr>
          <p:cNvPicPr>
            <a:picLocks noChangeAspect="1"/>
          </p:cNvPicPr>
          <p:nvPr/>
        </p:nvPicPr>
        <p:blipFill>
          <a:blip r:embed="rId2"/>
          <a:stretch>
            <a:fillRect/>
          </a:stretch>
        </p:blipFill>
        <p:spPr>
          <a:xfrm>
            <a:off x="2254103" y="585676"/>
            <a:ext cx="7252179" cy="5294128"/>
          </a:xfrm>
          <a:prstGeom prst="rect">
            <a:avLst/>
          </a:prstGeom>
        </p:spPr>
      </p:pic>
    </p:spTree>
    <p:extLst>
      <p:ext uri="{BB962C8B-B14F-4D97-AF65-F5344CB8AC3E}">
        <p14:creationId xmlns:p14="http://schemas.microsoft.com/office/powerpoint/2010/main" val="1676833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3C80-1D0A-93DC-7FB5-51B5C6DA2715}"/>
              </a:ext>
            </a:extLst>
          </p:cNvPr>
          <p:cNvSpPr>
            <a:spLocks noGrp="1"/>
          </p:cNvSpPr>
          <p:nvPr>
            <p:ph type="ctrTitle"/>
          </p:nvPr>
        </p:nvSpPr>
        <p:spPr>
          <a:xfrm>
            <a:off x="4146697" y="637953"/>
            <a:ext cx="5641848" cy="5029200"/>
          </a:xfrm>
        </p:spPr>
        <p:txBody>
          <a:bodyPr/>
          <a:lstStyle/>
          <a:p>
            <a:r>
              <a:rPr lang="en-US" b="1" dirty="0"/>
              <a:t>REVIEW-3</a:t>
            </a:r>
          </a:p>
        </p:txBody>
      </p:sp>
    </p:spTree>
    <p:extLst>
      <p:ext uri="{BB962C8B-B14F-4D97-AF65-F5344CB8AC3E}">
        <p14:creationId xmlns:p14="http://schemas.microsoft.com/office/powerpoint/2010/main" val="1490851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47B6-5222-2EA4-914E-5A5B8F5ECE18}"/>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0F319960-B01A-02DE-01AF-0FFDD1FFFFBF}"/>
              </a:ext>
            </a:extLst>
          </p:cNvPr>
          <p:cNvSpPr>
            <a:spLocks noGrp="1"/>
          </p:cNvSpPr>
          <p:nvPr>
            <p:ph idx="1"/>
          </p:nvPr>
        </p:nvSpPr>
        <p:spPr/>
        <p:txBody>
          <a:bodyPr/>
          <a:lstStyle/>
          <a:p>
            <a:pPr marL="0" algn="r" rtl="0" eaLnBrk="1" fontAlgn="ctr" latinLnBrk="0" hangingPunct="1"/>
            <a:r>
              <a:rPr lang="en-US" sz="2000" b="0" i="0" u="none" strike="noStrike" kern="1200" dirty="0">
                <a:solidFill>
                  <a:srgbClr val="543E34"/>
                </a:solidFill>
                <a:effectLst/>
                <a:latin typeface="+mj-lt"/>
              </a:rPr>
              <a:t>REVIEW-1</a:t>
            </a:r>
          </a:p>
          <a:p>
            <a:pPr marL="0" algn="r" rtl="0" eaLnBrk="1" fontAlgn="ctr" latinLnBrk="0" hangingPunct="1"/>
            <a:r>
              <a:rPr lang="en-US" sz="2000" dirty="0">
                <a:solidFill>
                  <a:srgbClr val="543E34"/>
                </a:solidFill>
                <a:latin typeface="+mj-lt"/>
              </a:rPr>
              <a:t>_______________________________</a:t>
            </a:r>
            <a:endParaRPr lang="en-US" sz="2000" b="0" i="0" u="none" strike="noStrike" kern="1200" dirty="0">
              <a:solidFill>
                <a:srgbClr val="543E34"/>
              </a:solidFill>
              <a:effectLst/>
              <a:latin typeface="+mj-lt"/>
            </a:endParaRPr>
          </a:p>
          <a:p>
            <a:pPr marL="0" algn="r" rtl="0" eaLnBrk="1" fontAlgn="ctr" latinLnBrk="0" hangingPunct="1"/>
            <a:r>
              <a:rPr lang="en-US" sz="2000" dirty="0">
                <a:solidFill>
                  <a:srgbClr val="543E34"/>
                </a:solidFill>
                <a:latin typeface="+mj-lt"/>
              </a:rPr>
              <a:t>REVIEW-2</a:t>
            </a:r>
          </a:p>
          <a:p>
            <a:pPr marL="0" algn="r" rtl="0" eaLnBrk="1" fontAlgn="ctr" latinLnBrk="0" hangingPunct="1"/>
            <a:r>
              <a:rPr lang="en-US" sz="2000" b="0" i="0" u="none" strike="noStrike" dirty="0">
                <a:solidFill>
                  <a:srgbClr val="543E34"/>
                </a:solidFill>
                <a:effectLst/>
                <a:latin typeface="+mj-lt"/>
              </a:rPr>
              <a:t>_______________________________</a:t>
            </a:r>
          </a:p>
          <a:p>
            <a:pPr marL="0" algn="r" rtl="0" eaLnBrk="1" fontAlgn="ctr" latinLnBrk="0" hangingPunct="1"/>
            <a:r>
              <a:rPr lang="en-US" sz="2000" dirty="0">
                <a:solidFill>
                  <a:srgbClr val="543E34"/>
                </a:solidFill>
                <a:latin typeface="+mj-lt"/>
              </a:rPr>
              <a:t>FUNCTIONING OF MODULES</a:t>
            </a:r>
          </a:p>
          <a:p>
            <a:pPr marL="0" algn="r" rtl="0" eaLnBrk="1" fontAlgn="ctr" latinLnBrk="0" hangingPunct="1"/>
            <a:r>
              <a:rPr lang="en-US" sz="2000" b="0" i="0" u="none" strike="noStrike" dirty="0">
                <a:solidFill>
                  <a:srgbClr val="543E34"/>
                </a:solidFill>
                <a:effectLst/>
                <a:latin typeface="+mj-lt"/>
              </a:rPr>
              <a:t>_______________________________</a:t>
            </a:r>
          </a:p>
          <a:p>
            <a:pPr marL="0" algn="r" rtl="0" eaLnBrk="1" fontAlgn="ctr" latinLnBrk="0" hangingPunct="1"/>
            <a:r>
              <a:rPr lang="en-US" sz="2000" dirty="0">
                <a:solidFill>
                  <a:srgbClr val="543E34"/>
                </a:solidFill>
                <a:latin typeface="+mj-lt"/>
              </a:rPr>
              <a:t>EXECUTION</a:t>
            </a:r>
          </a:p>
          <a:p>
            <a:pPr marL="0" algn="r" rtl="0" eaLnBrk="1" fontAlgn="ctr" latinLnBrk="0" hangingPunct="1"/>
            <a:r>
              <a:rPr lang="en-US" sz="2000" b="0" i="0" u="none" strike="noStrike" dirty="0">
                <a:solidFill>
                  <a:srgbClr val="543E34"/>
                </a:solidFill>
                <a:effectLst/>
                <a:latin typeface="+mj-lt"/>
              </a:rPr>
              <a:t>_______________________________</a:t>
            </a:r>
            <a:endParaRPr lang="en-US" sz="2000" b="0" i="0" u="none" strike="noStrike" dirty="0">
              <a:effectLst/>
              <a:latin typeface="+mj-lt"/>
            </a:endParaRPr>
          </a:p>
          <a:p>
            <a:endParaRPr lang="en-US" dirty="0">
              <a:latin typeface="+mj-lt"/>
            </a:endParaRPr>
          </a:p>
        </p:txBody>
      </p:sp>
    </p:spTree>
    <p:extLst>
      <p:ext uri="{BB962C8B-B14F-4D97-AF65-F5344CB8AC3E}">
        <p14:creationId xmlns:p14="http://schemas.microsoft.com/office/powerpoint/2010/main" val="1554140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71CE-3B31-5311-8FA9-27DCCEFDC37F}"/>
              </a:ext>
            </a:extLst>
          </p:cNvPr>
          <p:cNvSpPr>
            <a:spLocks noGrp="1"/>
          </p:cNvSpPr>
          <p:nvPr>
            <p:ph type="title"/>
          </p:nvPr>
        </p:nvSpPr>
        <p:spPr>
          <a:xfrm>
            <a:off x="915924" y="978196"/>
            <a:ext cx="10360152" cy="574158"/>
          </a:xfrm>
        </p:spPr>
        <p:txBody>
          <a:bodyPr/>
          <a:lstStyle/>
          <a:p>
            <a:r>
              <a:rPr lang="en-US" sz="4000" b="1" dirty="0"/>
              <a:t>FUNCTIONING OF MODULES</a:t>
            </a:r>
          </a:p>
        </p:txBody>
      </p:sp>
      <p:sp>
        <p:nvSpPr>
          <p:cNvPr id="5" name="Slide Number Placeholder 4">
            <a:extLst>
              <a:ext uri="{FF2B5EF4-FFF2-40B4-BE49-F238E27FC236}">
                <a16:creationId xmlns:a16="http://schemas.microsoft.com/office/drawing/2014/main" id="{1E7CE8B6-5FF5-DAEA-A165-7D3DF5BD2EE8}"/>
              </a:ext>
            </a:extLst>
          </p:cNvPr>
          <p:cNvSpPr>
            <a:spLocks noGrp="1"/>
          </p:cNvSpPr>
          <p:nvPr>
            <p:ph type="sldNum" sz="quarter" idx="4"/>
          </p:nvPr>
        </p:nvSpPr>
        <p:spPr/>
        <p:txBody>
          <a:bodyPr/>
          <a:lstStyle/>
          <a:p>
            <a:fld id="{58FB4751-880F-D840-AAA9-3A15815CC996}" type="slidenum">
              <a:rPr lang="en-US" smtClean="0"/>
              <a:pPr/>
              <a:t>40</a:t>
            </a:fld>
            <a:endParaRPr lang="en-US" dirty="0"/>
          </a:p>
        </p:txBody>
      </p:sp>
      <p:sp>
        <p:nvSpPr>
          <p:cNvPr id="10" name="TextBox 9">
            <a:extLst>
              <a:ext uri="{FF2B5EF4-FFF2-40B4-BE49-F238E27FC236}">
                <a16:creationId xmlns:a16="http://schemas.microsoft.com/office/drawing/2014/main" id="{9CAD411C-B94A-A8F0-E0ED-B810C0B755F3}"/>
              </a:ext>
            </a:extLst>
          </p:cNvPr>
          <p:cNvSpPr txBox="1"/>
          <p:nvPr/>
        </p:nvSpPr>
        <p:spPr>
          <a:xfrm>
            <a:off x="830863" y="2340374"/>
            <a:ext cx="9920177" cy="4524315"/>
          </a:xfrm>
          <a:prstGeom prst="rect">
            <a:avLst/>
          </a:prstGeom>
          <a:noFill/>
        </p:spPr>
        <p:txBody>
          <a:bodyPr wrap="square" rtlCol="0">
            <a:spAutoFit/>
          </a:bodyPr>
          <a:lstStyle/>
          <a:p>
            <a:r>
              <a:rPr lang="en-US" sz="3200" b="1" dirty="0"/>
              <a:t>1)DATA ANALYSIS AND DATA PREPROCESSING</a:t>
            </a:r>
          </a:p>
          <a:p>
            <a:endParaRPr lang="en-US" sz="3200" b="1" dirty="0"/>
          </a:p>
          <a:p>
            <a:r>
              <a:rPr lang="en-US" sz="3200" b="1" dirty="0"/>
              <a:t>2)MODEL DEVELOPMENT</a:t>
            </a:r>
          </a:p>
          <a:p>
            <a:endParaRPr lang="en-US" sz="3200" b="1" dirty="0"/>
          </a:p>
          <a:p>
            <a:r>
              <a:rPr lang="en-US" sz="3200" b="1" dirty="0"/>
              <a:t>3)MODEL DEPLOYMENT</a:t>
            </a:r>
            <a:br>
              <a:rPr lang="en-US" sz="3200" b="1" dirty="0"/>
            </a:br>
            <a:endParaRPr lang="en-US" sz="3200" b="1" dirty="0"/>
          </a:p>
          <a:p>
            <a:r>
              <a:rPr lang="en-US" sz="3200" b="1" dirty="0"/>
              <a:t>4)DATA VISUALIZATION</a:t>
            </a:r>
          </a:p>
          <a:p>
            <a:endParaRPr lang="en-US" sz="3200" dirty="0"/>
          </a:p>
          <a:p>
            <a:endParaRPr lang="en-US" sz="3200" dirty="0"/>
          </a:p>
        </p:txBody>
      </p:sp>
    </p:spTree>
    <p:extLst>
      <p:ext uri="{BB962C8B-B14F-4D97-AF65-F5344CB8AC3E}">
        <p14:creationId xmlns:p14="http://schemas.microsoft.com/office/powerpoint/2010/main" val="29153362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FBF03-E555-6813-652B-F5491E727370}"/>
              </a:ext>
            </a:extLst>
          </p:cNvPr>
          <p:cNvSpPr>
            <a:spLocks noGrp="1"/>
          </p:cNvSpPr>
          <p:nvPr>
            <p:ph type="title"/>
          </p:nvPr>
        </p:nvSpPr>
        <p:spPr>
          <a:xfrm>
            <a:off x="723013" y="0"/>
            <a:ext cx="10360152" cy="914400"/>
          </a:xfrm>
        </p:spPr>
        <p:txBody>
          <a:bodyPr/>
          <a:lstStyle/>
          <a:p>
            <a:r>
              <a:rPr lang="en-US" sz="3200" b="1" dirty="0"/>
              <a:t>DATA ANALYSIS AND DATA PREPROCESSING</a:t>
            </a:r>
            <a:endParaRPr lang="en-US" dirty="0"/>
          </a:p>
        </p:txBody>
      </p:sp>
      <p:sp>
        <p:nvSpPr>
          <p:cNvPr id="3" name="Content Placeholder 2">
            <a:extLst>
              <a:ext uri="{FF2B5EF4-FFF2-40B4-BE49-F238E27FC236}">
                <a16:creationId xmlns:a16="http://schemas.microsoft.com/office/drawing/2014/main" id="{CD25F697-4747-CD56-A23E-652ED10B8234}"/>
              </a:ext>
            </a:extLst>
          </p:cNvPr>
          <p:cNvSpPr>
            <a:spLocks noGrp="1"/>
          </p:cNvSpPr>
          <p:nvPr>
            <p:ph sz="quarter" idx="12"/>
          </p:nvPr>
        </p:nvSpPr>
        <p:spPr>
          <a:xfrm>
            <a:off x="839970" y="1137683"/>
            <a:ext cx="9824485" cy="3840480"/>
          </a:xfrm>
        </p:spPr>
        <p:txBody>
          <a:bodyPr>
            <a:noAutofit/>
          </a:bodyPr>
          <a:lstStyle/>
          <a:p>
            <a:r>
              <a:rPr lang="en-US" sz="2400" dirty="0"/>
              <a:t>Data analysis and data preprocessing are crucial steps in customer segmentation using clustering, as they help ensure that the data is clean, meaningful, and ready for analysis</a:t>
            </a:r>
          </a:p>
          <a:p>
            <a:endParaRPr lang="en-US" sz="2400" dirty="0"/>
          </a:p>
          <a:p>
            <a:r>
              <a:rPr lang="en-US" sz="2400" dirty="0"/>
              <a:t>1)Steps Data Analysis:</a:t>
            </a:r>
          </a:p>
          <a:p>
            <a:r>
              <a:rPr lang="en-US" sz="2400" dirty="0"/>
              <a:t>a)Exploratory Data Analysis (EDA):</a:t>
            </a:r>
          </a:p>
          <a:p>
            <a:r>
              <a:rPr lang="en-US" sz="2400" dirty="0"/>
              <a:t>b)Identifying Important Features:</a:t>
            </a:r>
          </a:p>
          <a:p>
            <a:r>
              <a:rPr lang="en-US" sz="2400" dirty="0"/>
              <a:t>c)Detecting Missing or Inconsistent Data:</a:t>
            </a:r>
          </a:p>
          <a:p>
            <a:endParaRPr lang="en-US" sz="2400" dirty="0"/>
          </a:p>
          <a:p>
            <a:r>
              <a:rPr lang="en-US" sz="2400" dirty="0"/>
              <a:t>2)Key Steps in Data Preprocessing for Clustering:</a:t>
            </a:r>
          </a:p>
          <a:p>
            <a:r>
              <a:rPr lang="en-US" sz="2400" dirty="0"/>
              <a:t>a)handling missing data</a:t>
            </a:r>
          </a:p>
          <a:p>
            <a:r>
              <a:rPr lang="en-US" sz="2400" dirty="0"/>
              <a:t>b)scaling and normalization</a:t>
            </a:r>
          </a:p>
          <a:p>
            <a:r>
              <a:rPr lang="en-US" sz="2400" dirty="0"/>
              <a:t>c)handling categorial data</a:t>
            </a:r>
          </a:p>
          <a:p>
            <a:endParaRPr lang="en-US" sz="2400" dirty="0"/>
          </a:p>
        </p:txBody>
      </p:sp>
      <p:sp>
        <p:nvSpPr>
          <p:cNvPr id="5" name="Slide Number Placeholder 4">
            <a:extLst>
              <a:ext uri="{FF2B5EF4-FFF2-40B4-BE49-F238E27FC236}">
                <a16:creationId xmlns:a16="http://schemas.microsoft.com/office/drawing/2014/main" id="{5BE60321-FDF8-B6D2-A49B-83BCB5950BE7}"/>
              </a:ext>
            </a:extLst>
          </p:cNvPr>
          <p:cNvSpPr>
            <a:spLocks noGrp="1"/>
          </p:cNvSpPr>
          <p:nvPr>
            <p:ph type="sldNum" sz="quarter" idx="4"/>
          </p:nvPr>
        </p:nvSpPr>
        <p:spPr/>
        <p:txBody>
          <a:bodyPr/>
          <a:lstStyle/>
          <a:p>
            <a:fld id="{58FB4751-880F-D840-AAA9-3A15815CC996}" type="slidenum">
              <a:rPr lang="en-US" smtClean="0"/>
              <a:pPr/>
              <a:t>41</a:t>
            </a:fld>
            <a:endParaRPr lang="en-US" dirty="0"/>
          </a:p>
        </p:txBody>
      </p:sp>
    </p:spTree>
    <p:extLst>
      <p:ext uri="{BB962C8B-B14F-4D97-AF65-F5344CB8AC3E}">
        <p14:creationId xmlns:p14="http://schemas.microsoft.com/office/powerpoint/2010/main" val="2837213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BBD9-6AB8-36FC-3818-B2B6B22215F1}"/>
              </a:ext>
            </a:extLst>
          </p:cNvPr>
          <p:cNvSpPr>
            <a:spLocks noGrp="1"/>
          </p:cNvSpPr>
          <p:nvPr>
            <p:ph type="title"/>
          </p:nvPr>
        </p:nvSpPr>
        <p:spPr>
          <a:xfrm>
            <a:off x="687088" y="351088"/>
            <a:ext cx="10360152" cy="627321"/>
          </a:xfrm>
        </p:spPr>
        <p:txBody>
          <a:bodyPr/>
          <a:lstStyle/>
          <a:p>
            <a:r>
              <a:rPr lang="en-US" sz="3200" b="1" dirty="0"/>
              <a:t>MODEL DEVELOPMENT</a:t>
            </a:r>
            <a:endParaRPr lang="en-US" dirty="0"/>
          </a:p>
        </p:txBody>
      </p:sp>
      <p:sp>
        <p:nvSpPr>
          <p:cNvPr id="3" name="Content Placeholder 2">
            <a:extLst>
              <a:ext uri="{FF2B5EF4-FFF2-40B4-BE49-F238E27FC236}">
                <a16:creationId xmlns:a16="http://schemas.microsoft.com/office/drawing/2014/main" id="{68F6FD2E-33E5-CE7A-623E-7C19337EA2C1}"/>
              </a:ext>
            </a:extLst>
          </p:cNvPr>
          <p:cNvSpPr>
            <a:spLocks noGrp="1"/>
          </p:cNvSpPr>
          <p:nvPr>
            <p:ph sz="quarter" idx="12"/>
          </p:nvPr>
        </p:nvSpPr>
        <p:spPr>
          <a:xfrm>
            <a:off x="687088" y="1371600"/>
            <a:ext cx="10439401" cy="4348503"/>
          </a:xfrm>
        </p:spPr>
        <p:txBody>
          <a:bodyPr>
            <a:noAutofit/>
          </a:bodyPr>
          <a:lstStyle/>
          <a:p>
            <a:r>
              <a:rPr lang="en-US" sz="2400" dirty="0"/>
              <a:t>Model deployment for customer segmentation using clustering with combined points refers to integrating multiple customer data attributes (e.g., demographics, purchasing behavior, online activity) into a unified dataset to derive meaningful clusters. These combined points help create a more comprehensive representation of customer profiles.</a:t>
            </a:r>
          </a:p>
          <a:p>
            <a:endParaRPr lang="en-US" sz="2400" dirty="0"/>
          </a:p>
          <a:p>
            <a:r>
              <a:rPr lang="en-US" sz="2400" dirty="0"/>
              <a:t> Here's how deployment is used effectively:</a:t>
            </a:r>
          </a:p>
          <a:p>
            <a:r>
              <a:rPr lang="en-US" sz="2400" dirty="0"/>
              <a:t>1)Customer Segmentation with Combined Data Points Feature Integration Dimensionality Reduction (if needed)Clustering</a:t>
            </a:r>
          </a:p>
          <a:p>
            <a:r>
              <a:rPr lang="en-US" sz="2400" dirty="0"/>
              <a:t>2)Deployment Workflow Feature Engineering Data Integration Weight Adjustment</a:t>
            </a:r>
          </a:p>
          <a:p>
            <a:r>
              <a:rPr lang="en-US" sz="2400" dirty="0"/>
              <a:t>3)Practical Applications in Customer Segmentation </a:t>
            </a:r>
          </a:p>
          <a:p>
            <a:r>
              <a:rPr lang="en-US" sz="2400" dirty="0"/>
              <a:t>4)Tools and Technologies</a:t>
            </a:r>
          </a:p>
          <a:p>
            <a:endParaRPr lang="en-US" sz="2400" dirty="0"/>
          </a:p>
        </p:txBody>
      </p:sp>
      <p:sp>
        <p:nvSpPr>
          <p:cNvPr id="5" name="Slide Number Placeholder 4">
            <a:extLst>
              <a:ext uri="{FF2B5EF4-FFF2-40B4-BE49-F238E27FC236}">
                <a16:creationId xmlns:a16="http://schemas.microsoft.com/office/drawing/2014/main" id="{830B8B48-EBA5-262E-BC7D-44FBEF7AA69A}"/>
              </a:ext>
            </a:extLst>
          </p:cNvPr>
          <p:cNvSpPr>
            <a:spLocks noGrp="1"/>
          </p:cNvSpPr>
          <p:nvPr>
            <p:ph type="sldNum" sz="quarter" idx="4"/>
          </p:nvPr>
        </p:nvSpPr>
        <p:spPr/>
        <p:txBody>
          <a:bodyPr/>
          <a:lstStyle/>
          <a:p>
            <a:fld id="{58FB4751-880F-D840-AAA9-3A15815CC996}" type="slidenum">
              <a:rPr lang="en-US" smtClean="0"/>
              <a:pPr/>
              <a:t>42</a:t>
            </a:fld>
            <a:endParaRPr lang="en-US" dirty="0"/>
          </a:p>
        </p:txBody>
      </p:sp>
    </p:spTree>
    <p:extLst>
      <p:ext uri="{BB962C8B-B14F-4D97-AF65-F5344CB8AC3E}">
        <p14:creationId xmlns:p14="http://schemas.microsoft.com/office/powerpoint/2010/main" val="495495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77B5-F767-A034-43F9-EEC5BDD126D3}"/>
              </a:ext>
            </a:extLst>
          </p:cNvPr>
          <p:cNvSpPr>
            <a:spLocks noGrp="1"/>
          </p:cNvSpPr>
          <p:nvPr>
            <p:ph type="title"/>
          </p:nvPr>
        </p:nvSpPr>
        <p:spPr>
          <a:xfrm>
            <a:off x="903288" y="414884"/>
            <a:ext cx="10360152" cy="595423"/>
          </a:xfrm>
        </p:spPr>
        <p:txBody>
          <a:bodyPr/>
          <a:lstStyle/>
          <a:p>
            <a:r>
              <a:rPr lang="en-US" sz="3200" b="1" dirty="0"/>
              <a:t>MODEL DEPLOYMENT</a:t>
            </a:r>
            <a:endParaRPr lang="en-US" dirty="0"/>
          </a:p>
        </p:txBody>
      </p:sp>
      <p:sp>
        <p:nvSpPr>
          <p:cNvPr id="5" name="Slide Number Placeholder 4">
            <a:extLst>
              <a:ext uri="{FF2B5EF4-FFF2-40B4-BE49-F238E27FC236}">
                <a16:creationId xmlns:a16="http://schemas.microsoft.com/office/drawing/2014/main" id="{F5FDC028-C6D0-16C0-2486-DF9D95AF3E09}"/>
              </a:ext>
            </a:extLst>
          </p:cNvPr>
          <p:cNvSpPr>
            <a:spLocks noGrp="1"/>
          </p:cNvSpPr>
          <p:nvPr>
            <p:ph type="sldNum" sz="quarter" idx="4"/>
          </p:nvPr>
        </p:nvSpPr>
        <p:spPr/>
        <p:txBody>
          <a:bodyPr/>
          <a:lstStyle/>
          <a:p>
            <a:fld id="{58FB4751-880F-D840-AAA9-3A15815CC996}" type="slidenum">
              <a:rPr lang="en-US" smtClean="0"/>
              <a:pPr/>
              <a:t>43</a:t>
            </a:fld>
            <a:endParaRPr lang="en-US" dirty="0"/>
          </a:p>
        </p:txBody>
      </p:sp>
      <p:sp>
        <p:nvSpPr>
          <p:cNvPr id="7" name="Content Placeholder 3">
            <a:extLst>
              <a:ext uri="{FF2B5EF4-FFF2-40B4-BE49-F238E27FC236}">
                <a16:creationId xmlns:a16="http://schemas.microsoft.com/office/drawing/2014/main" id="{4C11B585-8F16-EF03-EDB0-06660E3B797B}"/>
              </a:ext>
            </a:extLst>
          </p:cNvPr>
          <p:cNvSpPr>
            <a:spLocks noGrp="1"/>
          </p:cNvSpPr>
          <p:nvPr>
            <p:ph sz="quarter" idx="12"/>
          </p:nvPr>
        </p:nvSpPr>
        <p:spPr>
          <a:xfrm>
            <a:off x="903288" y="1508125"/>
            <a:ext cx="10633038" cy="3841750"/>
          </a:xfrm>
        </p:spPr>
        <p:txBody>
          <a:bodyPr>
            <a:noAutofit/>
          </a:bodyPr>
          <a:lstStyle/>
          <a:p>
            <a:r>
              <a:rPr lang="en-US" sz="2800" dirty="0"/>
              <a:t>Module development involves systematically creating a framework that organizes customers into distinct groups based on shared characteristics or behaviors.</a:t>
            </a:r>
          </a:p>
          <a:p>
            <a:endParaRPr lang="en-US" sz="2800" dirty="0"/>
          </a:p>
          <a:p>
            <a:r>
              <a:rPr lang="en-US" sz="2800" dirty="0"/>
              <a:t> Here’s how the process is typically utilized:</a:t>
            </a:r>
          </a:p>
          <a:p>
            <a:r>
              <a:rPr lang="en-US" sz="2800" dirty="0"/>
              <a:t>1. Understanding Objectives</a:t>
            </a:r>
          </a:p>
          <a:p>
            <a:r>
              <a:rPr lang="en-US" sz="2800" dirty="0"/>
              <a:t>2. Data Preparation Module</a:t>
            </a:r>
          </a:p>
          <a:p>
            <a:r>
              <a:rPr lang="en-US" sz="2800" dirty="0"/>
              <a:t>3. Clustering Module</a:t>
            </a:r>
          </a:p>
          <a:p>
            <a:r>
              <a:rPr lang="en-US" sz="2800" dirty="0"/>
              <a:t>4. Customer Segmentation Insights Module</a:t>
            </a:r>
          </a:p>
          <a:p>
            <a:endParaRPr lang="en-US" sz="2800" dirty="0"/>
          </a:p>
        </p:txBody>
      </p:sp>
    </p:spTree>
    <p:extLst>
      <p:ext uri="{BB962C8B-B14F-4D97-AF65-F5344CB8AC3E}">
        <p14:creationId xmlns:p14="http://schemas.microsoft.com/office/powerpoint/2010/main" val="689955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DDC00-AA4A-4D16-2C32-1A6526914ED6}"/>
              </a:ext>
            </a:extLst>
          </p:cNvPr>
          <p:cNvSpPr>
            <a:spLocks noGrp="1"/>
          </p:cNvSpPr>
          <p:nvPr>
            <p:ph type="title"/>
          </p:nvPr>
        </p:nvSpPr>
        <p:spPr>
          <a:xfrm>
            <a:off x="915924" y="202018"/>
            <a:ext cx="10360152" cy="648586"/>
          </a:xfrm>
        </p:spPr>
        <p:txBody>
          <a:bodyPr/>
          <a:lstStyle/>
          <a:p>
            <a:r>
              <a:rPr lang="en-US" sz="3200" b="1" dirty="0"/>
              <a:t>DATA VISUALIZATION</a:t>
            </a:r>
            <a:endParaRPr lang="en-US" dirty="0"/>
          </a:p>
        </p:txBody>
      </p:sp>
      <p:sp>
        <p:nvSpPr>
          <p:cNvPr id="4" name="Content Placeholder 3">
            <a:extLst>
              <a:ext uri="{FF2B5EF4-FFF2-40B4-BE49-F238E27FC236}">
                <a16:creationId xmlns:a16="http://schemas.microsoft.com/office/drawing/2014/main" id="{5C90B333-BCC0-8962-D5CF-E5EB25F36446}"/>
              </a:ext>
            </a:extLst>
          </p:cNvPr>
          <p:cNvSpPr>
            <a:spLocks noGrp="1"/>
          </p:cNvSpPr>
          <p:nvPr>
            <p:ph sz="quarter" idx="13"/>
          </p:nvPr>
        </p:nvSpPr>
        <p:spPr>
          <a:xfrm>
            <a:off x="915924" y="1265275"/>
            <a:ext cx="10131316" cy="5252484"/>
          </a:xfrm>
        </p:spPr>
        <p:txBody>
          <a:bodyPr/>
          <a:lstStyle/>
          <a:p>
            <a:pPr marL="0" indent="0">
              <a:buNone/>
            </a:pPr>
            <a:r>
              <a:rPr lang="en-US" dirty="0"/>
              <a:t>A data visualization module is a set of tools, libraries, or components designed to create visual representations of data. These visualizations help users understand complex data sets, identify patterns, and derive insights. In the context of customer segmentation analysis for improving sales using clustering, a data visualization module is essential for displaying the results of clustering algorithms and making the data comprehensible to stakeholders.</a:t>
            </a:r>
          </a:p>
          <a:p>
            <a:pPr marL="0" indent="0">
              <a:buNone/>
            </a:pPr>
            <a:endParaRPr lang="en-US" dirty="0"/>
          </a:p>
          <a:p>
            <a:pPr marL="0" indent="0">
              <a:buNone/>
            </a:pPr>
            <a:r>
              <a:rPr lang="en-US" dirty="0"/>
              <a:t>Key Components of a Data Visualization Module:</a:t>
            </a:r>
          </a:p>
          <a:p>
            <a:pPr marL="0" indent="0">
              <a:buNone/>
            </a:pPr>
            <a:r>
              <a:rPr lang="en-US" dirty="0"/>
              <a:t>1)Data Input and Processing</a:t>
            </a:r>
          </a:p>
          <a:p>
            <a:pPr marL="0" indent="0">
              <a:buNone/>
            </a:pPr>
            <a:r>
              <a:rPr lang="en-US" dirty="0"/>
              <a:t>2)</a:t>
            </a:r>
            <a:r>
              <a:rPr lang="en-US" b="1" dirty="0"/>
              <a:t> </a:t>
            </a:r>
            <a:r>
              <a:rPr lang="en-US" dirty="0"/>
              <a:t>Visualization Tools and Libraries</a:t>
            </a:r>
          </a:p>
          <a:p>
            <a:pPr marL="0" indent="0">
              <a:buNone/>
            </a:pPr>
            <a:r>
              <a:rPr lang="en-US" dirty="0"/>
              <a:t>3) Types of Visualizations</a:t>
            </a:r>
          </a:p>
          <a:p>
            <a:pPr marL="0" indent="0">
              <a:buNone/>
            </a:pPr>
            <a:r>
              <a:rPr lang="en-US" dirty="0"/>
              <a:t>4) Interactivity and User Interface</a:t>
            </a:r>
          </a:p>
          <a:p>
            <a:pPr marL="0" indent="0">
              <a:buNone/>
            </a:pPr>
            <a:r>
              <a:rPr lang="en-US" dirty="0"/>
              <a:t>5) Reporting and Sharing</a:t>
            </a:r>
          </a:p>
        </p:txBody>
      </p:sp>
      <p:sp>
        <p:nvSpPr>
          <p:cNvPr id="5" name="Slide Number Placeholder 4">
            <a:extLst>
              <a:ext uri="{FF2B5EF4-FFF2-40B4-BE49-F238E27FC236}">
                <a16:creationId xmlns:a16="http://schemas.microsoft.com/office/drawing/2014/main" id="{08BACAAE-F65B-940F-2F22-F050E53C50AF}"/>
              </a:ext>
            </a:extLst>
          </p:cNvPr>
          <p:cNvSpPr>
            <a:spLocks noGrp="1"/>
          </p:cNvSpPr>
          <p:nvPr>
            <p:ph type="sldNum" sz="quarter" idx="4"/>
          </p:nvPr>
        </p:nvSpPr>
        <p:spPr/>
        <p:txBody>
          <a:bodyPr/>
          <a:lstStyle/>
          <a:p>
            <a:fld id="{58FB4751-880F-D840-AAA9-3A15815CC996}" type="slidenum">
              <a:rPr lang="en-US" smtClean="0"/>
              <a:pPr/>
              <a:t>44</a:t>
            </a:fld>
            <a:endParaRPr lang="en-US" dirty="0"/>
          </a:p>
        </p:txBody>
      </p:sp>
    </p:spTree>
    <p:extLst>
      <p:ext uri="{BB962C8B-B14F-4D97-AF65-F5344CB8AC3E}">
        <p14:creationId xmlns:p14="http://schemas.microsoft.com/office/powerpoint/2010/main" val="38707341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44B1-C35F-0B51-148D-E64F971E8E0A}"/>
              </a:ext>
            </a:extLst>
          </p:cNvPr>
          <p:cNvSpPr>
            <a:spLocks noGrp="1"/>
          </p:cNvSpPr>
          <p:nvPr>
            <p:ph type="title"/>
          </p:nvPr>
        </p:nvSpPr>
        <p:spPr>
          <a:xfrm>
            <a:off x="520869" y="308342"/>
            <a:ext cx="10360152" cy="627321"/>
          </a:xfrm>
        </p:spPr>
        <p:txBody>
          <a:bodyPr/>
          <a:lstStyle/>
          <a:p>
            <a:pPr algn="ctr"/>
            <a:r>
              <a:rPr lang="en-US" dirty="0"/>
              <a:t>EXECUTION</a:t>
            </a:r>
          </a:p>
        </p:txBody>
      </p:sp>
      <p:sp>
        <p:nvSpPr>
          <p:cNvPr id="4" name="Slide Number Placeholder 3">
            <a:extLst>
              <a:ext uri="{FF2B5EF4-FFF2-40B4-BE49-F238E27FC236}">
                <a16:creationId xmlns:a16="http://schemas.microsoft.com/office/drawing/2014/main" id="{347786A0-76BB-F71D-AC18-644439E892CB}"/>
              </a:ext>
            </a:extLst>
          </p:cNvPr>
          <p:cNvSpPr>
            <a:spLocks noGrp="1"/>
          </p:cNvSpPr>
          <p:nvPr>
            <p:ph type="sldNum" sz="quarter" idx="4"/>
          </p:nvPr>
        </p:nvSpPr>
        <p:spPr/>
        <p:txBody>
          <a:bodyPr/>
          <a:lstStyle/>
          <a:p>
            <a:fld id="{58FB4751-880F-D840-AAA9-3A15815CC996}" type="slidenum">
              <a:rPr lang="en-US" smtClean="0"/>
              <a:pPr/>
              <a:t>45</a:t>
            </a:fld>
            <a:endParaRPr lang="en-US" dirty="0"/>
          </a:p>
        </p:txBody>
      </p:sp>
      <p:sp>
        <p:nvSpPr>
          <p:cNvPr id="6" name="TextBox 5">
            <a:extLst>
              <a:ext uri="{FF2B5EF4-FFF2-40B4-BE49-F238E27FC236}">
                <a16:creationId xmlns:a16="http://schemas.microsoft.com/office/drawing/2014/main" id="{42583899-A00C-6B5F-E70F-EA697F6D9A31}"/>
              </a:ext>
            </a:extLst>
          </p:cNvPr>
          <p:cNvSpPr txBox="1"/>
          <p:nvPr/>
        </p:nvSpPr>
        <p:spPr>
          <a:xfrm>
            <a:off x="914273" y="1085924"/>
            <a:ext cx="609777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1:Import</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packages</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and</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libraries</a:t>
            </a:r>
            <a:endParaRPr lang="en-US" dirty="0"/>
          </a:p>
        </p:txBody>
      </p:sp>
      <p:pic>
        <p:nvPicPr>
          <p:cNvPr id="7" name="image16.jpeg">
            <a:extLst>
              <a:ext uri="{FF2B5EF4-FFF2-40B4-BE49-F238E27FC236}">
                <a16:creationId xmlns:a16="http://schemas.microsoft.com/office/drawing/2014/main" id="{71BDD7D4-7E3D-51F1-EE9D-6480F90C12B5}"/>
              </a:ext>
            </a:extLst>
          </p:cNvPr>
          <p:cNvPicPr>
            <a:picLocks noChangeAspect="1"/>
          </p:cNvPicPr>
          <p:nvPr/>
        </p:nvPicPr>
        <p:blipFill>
          <a:blip r:embed="rId2" cstate="print"/>
          <a:stretch>
            <a:fillRect/>
          </a:stretch>
        </p:blipFill>
        <p:spPr>
          <a:xfrm>
            <a:off x="914273" y="1605517"/>
            <a:ext cx="3843333" cy="1629915"/>
          </a:xfrm>
          <a:prstGeom prst="rect">
            <a:avLst/>
          </a:prstGeom>
        </p:spPr>
      </p:pic>
      <p:sp>
        <p:nvSpPr>
          <p:cNvPr id="9" name="TextBox 8">
            <a:extLst>
              <a:ext uri="{FF2B5EF4-FFF2-40B4-BE49-F238E27FC236}">
                <a16:creationId xmlns:a16="http://schemas.microsoft.com/office/drawing/2014/main" id="{89099097-0704-B222-1A6B-7A40D2F1397C}"/>
              </a:ext>
            </a:extLst>
          </p:cNvPr>
          <p:cNvSpPr txBox="1"/>
          <p:nvPr/>
        </p:nvSpPr>
        <p:spPr>
          <a:xfrm>
            <a:off x="805416" y="3507296"/>
            <a:ext cx="609777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collect</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the</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dataset</a:t>
            </a:r>
            <a:endParaRPr lang="en-US" dirty="0"/>
          </a:p>
        </p:txBody>
      </p:sp>
      <p:pic>
        <p:nvPicPr>
          <p:cNvPr id="10" name="image17.jpeg">
            <a:extLst>
              <a:ext uri="{FF2B5EF4-FFF2-40B4-BE49-F238E27FC236}">
                <a16:creationId xmlns:a16="http://schemas.microsoft.com/office/drawing/2014/main" id="{83402883-3C57-8441-D89E-CD92482E2B4B}"/>
              </a:ext>
            </a:extLst>
          </p:cNvPr>
          <p:cNvPicPr>
            <a:picLocks noChangeAspect="1"/>
          </p:cNvPicPr>
          <p:nvPr/>
        </p:nvPicPr>
        <p:blipFill>
          <a:blip r:embed="rId3" cstate="print"/>
          <a:stretch>
            <a:fillRect/>
          </a:stretch>
        </p:blipFill>
        <p:spPr>
          <a:xfrm>
            <a:off x="914273" y="4148492"/>
            <a:ext cx="6555310" cy="2034753"/>
          </a:xfrm>
          <a:prstGeom prst="rect">
            <a:avLst/>
          </a:prstGeom>
        </p:spPr>
      </p:pic>
    </p:spTree>
    <p:extLst>
      <p:ext uri="{BB962C8B-B14F-4D97-AF65-F5344CB8AC3E}">
        <p14:creationId xmlns:p14="http://schemas.microsoft.com/office/powerpoint/2010/main" val="1547435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066CC0-9E4C-C18C-5127-6452D829AAB0}"/>
              </a:ext>
            </a:extLst>
          </p:cNvPr>
          <p:cNvSpPr>
            <a:spLocks noGrp="1"/>
          </p:cNvSpPr>
          <p:nvPr>
            <p:ph type="sldNum" sz="quarter" idx="4"/>
          </p:nvPr>
        </p:nvSpPr>
        <p:spPr/>
        <p:txBody>
          <a:bodyPr/>
          <a:lstStyle/>
          <a:p>
            <a:fld id="{58FB4751-880F-D840-AAA9-3A15815CC996}" type="slidenum">
              <a:rPr lang="en-US" smtClean="0"/>
              <a:pPr/>
              <a:t>46</a:t>
            </a:fld>
            <a:endParaRPr lang="en-US" dirty="0"/>
          </a:p>
        </p:txBody>
      </p:sp>
      <p:sp>
        <p:nvSpPr>
          <p:cNvPr id="6" name="TextBox 5">
            <a:extLst>
              <a:ext uri="{FF2B5EF4-FFF2-40B4-BE49-F238E27FC236}">
                <a16:creationId xmlns:a16="http://schemas.microsoft.com/office/drawing/2014/main" id="{91850642-FF00-1522-733C-5B4DD0F202C5}"/>
              </a:ext>
            </a:extLst>
          </p:cNvPr>
          <p:cNvSpPr txBox="1"/>
          <p:nvPr/>
        </p:nvSpPr>
        <p:spPr>
          <a:xfrm>
            <a:off x="614030" y="309748"/>
            <a:ext cx="609777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3</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Describe</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the</a:t>
            </a: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dataset</a:t>
            </a:r>
            <a:endParaRPr lang="en-IN" sz="1800" b="1" dirty="0">
              <a:effectLst/>
              <a:latin typeface="Times New Roman" panose="02020603050405020304" pitchFamily="18" charset="0"/>
              <a:ea typeface="Times New Roman" panose="02020603050405020304" pitchFamily="18" charset="0"/>
            </a:endParaRPr>
          </a:p>
        </p:txBody>
      </p:sp>
      <p:pic>
        <p:nvPicPr>
          <p:cNvPr id="7" name="image18.jpeg">
            <a:extLst>
              <a:ext uri="{FF2B5EF4-FFF2-40B4-BE49-F238E27FC236}">
                <a16:creationId xmlns:a16="http://schemas.microsoft.com/office/drawing/2014/main" id="{8720693A-90EC-C4BC-ADDD-D51727ECA455}"/>
              </a:ext>
            </a:extLst>
          </p:cNvPr>
          <p:cNvPicPr>
            <a:picLocks noChangeAspect="1"/>
          </p:cNvPicPr>
          <p:nvPr/>
        </p:nvPicPr>
        <p:blipFill>
          <a:blip r:embed="rId2" cstate="print"/>
          <a:stretch>
            <a:fillRect/>
          </a:stretch>
        </p:blipFill>
        <p:spPr>
          <a:xfrm>
            <a:off x="688653" y="840800"/>
            <a:ext cx="5485320" cy="2683893"/>
          </a:xfrm>
          <a:prstGeom prst="rect">
            <a:avLst/>
          </a:prstGeom>
        </p:spPr>
      </p:pic>
      <p:sp>
        <p:nvSpPr>
          <p:cNvPr id="9" name="TextBox 8">
            <a:extLst>
              <a:ext uri="{FF2B5EF4-FFF2-40B4-BE49-F238E27FC236}">
                <a16:creationId xmlns:a16="http://schemas.microsoft.com/office/drawing/2014/main" id="{6F297E6D-BF3E-48A4-0002-CA3B3EBB6B79}"/>
              </a:ext>
            </a:extLst>
          </p:cNvPr>
          <p:cNvSpPr txBox="1"/>
          <p:nvPr/>
        </p:nvSpPr>
        <p:spPr>
          <a:xfrm>
            <a:off x="688653" y="3686413"/>
            <a:ext cx="609777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4</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Plot</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the</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counter-plot</a:t>
            </a:r>
            <a:endParaRPr lang="en-US" dirty="0"/>
          </a:p>
        </p:txBody>
      </p:sp>
      <p:pic>
        <p:nvPicPr>
          <p:cNvPr id="10" name="image19.jpeg">
            <a:extLst>
              <a:ext uri="{FF2B5EF4-FFF2-40B4-BE49-F238E27FC236}">
                <a16:creationId xmlns:a16="http://schemas.microsoft.com/office/drawing/2014/main" id="{3C30626E-FA3F-1C40-34D4-60A29EECA6BA}"/>
              </a:ext>
            </a:extLst>
          </p:cNvPr>
          <p:cNvPicPr>
            <a:picLocks noChangeAspect="1"/>
          </p:cNvPicPr>
          <p:nvPr/>
        </p:nvPicPr>
        <p:blipFill>
          <a:blip r:embed="rId3" cstate="print"/>
          <a:stretch>
            <a:fillRect/>
          </a:stretch>
        </p:blipFill>
        <p:spPr>
          <a:xfrm>
            <a:off x="788868" y="4055745"/>
            <a:ext cx="4945626" cy="2552700"/>
          </a:xfrm>
          <a:prstGeom prst="rect">
            <a:avLst/>
          </a:prstGeom>
        </p:spPr>
      </p:pic>
    </p:spTree>
    <p:extLst>
      <p:ext uri="{BB962C8B-B14F-4D97-AF65-F5344CB8AC3E}">
        <p14:creationId xmlns:p14="http://schemas.microsoft.com/office/powerpoint/2010/main" val="41064772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890EA4-4418-2900-2DD2-6321977FAD9F}"/>
              </a:ext>
            </a:extLst>
          </p:cNvPr>
          <p:cNvSpPr>
            <a:spLocks noGrp="1"/>
          </p:cNvSpPr>
          <p:nvPr>
            <p:ph type="sldNum" sz="quarter" idx="4"/>
          </p:nvPr>
        </p:nvSpPr>
        <p:spPr/>
        <p:txBody>
          <a:bodyPr/>
          <a:lstStyle/>
          <a:p>
            <a:fld id="{58FB4751-880F-D840-AAA9-3A15815CC996}" type="slidenum">
              <a:rPr lang="en-US" smtClean="0"/>
              <a:pPr/>
              <a:t>47</a:t>
            </a:fld>
            <a:endParaRPr lang="en-US" dirty="0"/>
          </a:p>
        </p:txBody>
      </p:sp>
      <p:sp>
        <p:nvSpPr>
          <p:cNvPr id="6" name="TextBox 5">
            <a:extLst>
              <a:ext uri="{FF2B5EF4-FFF2-40B4-BE49-F238E27FC236}">
                <a16:creationId xmlns:a16="http://schemas.microsoft.com/office/drawing/2014/main" id="{FCA94370-874C-1B90-A8C4-2D9D19FF447F}"/>
              </a:ext>
            </a:extLst>
          </p:cNvPr>
          <p:cNvSpPr txBox="1"/>
          <p:nvPr/>
        </p:nvSpPr>
        <p:spPr>
          <a:xfrm>
            <a:off x="497072" y="235044"/>
            <a:ext cx="6097772" cy="646331"/>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5:</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Plotting</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Histograms</a:t>
            </a:r>
            <a:endParaRPr lang="en-IN" sz="1800" b="1" dirty="0">
              <a:effectLst/>
              <a:latin typeface="Times New Roman" panose="02020603050405020304" pitchFamily="18" charset="0"/>
              <a:ea typeface="Times New Roman" panose="02020603050405020304" pitchFamily="18" charset="0"/>
            </a:endParaRPr>
          </a:p>
          <a:p>
            <a:endParaRPr lang="en-IN" dirty="0"/>
          </a:p>
        </p:txBody>
      </p:sp>
      <p:pic>
        <p:nvPicPr>
          <p:cNvPr id="7" name="image20.jpeg">
            <a:extLst>
              <a:ext uri="{FF2B5EF4-FFF2-40B4-BE49-F238E27FC236}">
                <a16:creationId xmlns:a16="http://schemas.microsoft.com/office/drawing/2014/main" id="{6CB2861D-D243-6A23-765D-C29E7D853A6B}"/>
              </a:ext>
            </a:extLst>
          </p:cNvPr>
          <p:cNvPicPr>
            <a:picLocks noChangeAspect="1"/>
          </p:cNvPicPr>
          <p:nvPr/>
        </p:nvPicPr>
        <p:blipFill>
          <a:blip r:embed="rId2" cstate="print"/>
          <a:stretch>
            <a:fillRect/>
          </a:stretch>
        </p:blipFill>
        <p:spPr>
          <a:xfrm>
            <a:off x="497072" y="698023"/>
            <a:ext cx="4089139" cy="2584450"/>
          </a:xfrm>
          <a:prstGeom prst="rect">
            <a:avLst/>
          </a:prstGeom>
        </p:spPr>
      </p:pic>
      <p:pic>
        <p:nvPicPr>
          <p:cNvPr id="8" name="image21.jpeg">
            <a:extLst>
              <a:ext uri="{FF2B5EF4-FFF2-40B4-BE49-F238E27FC236}">
                <a16:creationId xmlns:a16="http://schemas.microsoft.com/office/drawing/2014/main" id="{FF36F94C-56A0-0B50-E104-2DB122D6C18D}"/>
              </a:ext>
            </a:extLst>
          </p:cNvPr>
          <p:cNvPicPr>
            <a:picLocks noChangeAspect="1"/>
          </p:cNvPicPr>
          <p:nvPr/>
        </p:nvPicPr>
        <p:blipFill>
          <a:blip r:embed="rId3" cstate="print"/>
          <a:stretch>
            <a:fillRect/>
          </a:stretch>
        </p:blipFill>
        <p:spPr>
          <a:xfrm>
            <a:off x="497072" y="3575528"/>
            <a:ext cx="4089139" cy="3138452"/>
          </a:xfrm>
          <a:prstGeom prst="rect">
            <a:avLst/>
          </a:prstGeom>
        </p:spPr>
      </p:pic>
    </p:spTree>
    <p:extLst>
      <p:ext uri="{BB962C8B-B14F-4D97-AF65-F5344CB8AC3E}">
        <p14:creationId xmlns:p14="http://schemas.microsoft.com/office/powerpoint/2010/main" val="207510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5346A1-37C6-BBAC-4CCE-6F2682F798D5}"/>
              </a:ext>
            </a:extLst>
          </p:cNvPr>
          <p:cNvSpPr>
            <a:spLocks noGrp="1"/>
          </p:cNvSpPr>
          <p:nvPr>
            <p:ph type="sldNum" sz="quarter" idx="4"/>
          </p:nvPr>
        </p:nvSpPr>
        <p:spPr/>
        <p:txBody>
          <a:bodyPr/>
          <a:lstStyle/>
          <a:p>
            <a:fld id="{58FB4751-880F-D840-AAA9-3A15815CC996}" type="slidenum">
              <a:rPr lang="en-US" smtClean="0"/>
              <a:pPr/>
              <a:t>48</a:t>
            </a:fld>
            <a:endParaRPr lang="en-US" dirty="0"/>
          </a:p>
        </p:txBody>
      </p:sp>
      <p:sp>
        <p:nvSpPr>
          <p:cNvPr id="5" name="Title 1">
            <a:extLst>
              <a:ext uri="{FF2B5EF4-FFF2-40B4-BE49-F238E27FC236}">
                <a16:creationId xmlns:a16="http://schemas.microsoft.com/office/drawing/2014/main" id="{3C4D2853-B4F0-37A5-661D-B002E59D7615}"/>
              </a:ext>
            </a:extLst>
          </p:cNvPr>
          <p:cNvSpPr>
            <a:spLocks noGrp="1"/>
          </p:cNvSpPr>
          <p:nvPr>
            <p:ph type="title"/>
          </p:nvPr>
        </p:nvSpPr>
        <p:spPr>
          <a:xfrm>
            <a:off x="825790" y="3510117"/>
            <a:ext cx="9600120" cy="858697"/>
          </a:xfrm>
        </p:spPr>
        <p:txBody>
          <a:bodyPr/>
          <a:lstStyle/>
          <a:p>
            <a:r>
              <a:rPr lang="en-US" sz="1800" b="1" dirty="0">
                <a:effectLst/>
                <a:latin typeface="Times New Roman" panose="02020603050405020304" pitchFamily="18" charset="0"/>
                <a:ea typeface="Times New Roman" panose="02020603050405020304" pitchFamily="18" charset="0"/>
              </a:rPr>
              <a:t>Step</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7:Plotting</a:t>
            </a:r>
            <a:r>
              <a:rPr lang="en-US" sz="1800" b="1" spc="-10"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pairplots</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6" name="Subtitle 2">
            <a:extLst>
              <a:ext uri="{FF2B5EF4-FFF2-40B4-BE49-F238E27FC236}">
                <a16:creationId xmlns:a16="http://schemas.microsoft.com/office/drawing/2014/main" id="{03B23655-F495-A5B7-FF98-A42D7AEBFC4C}"/>
              </a:ext>
            </a:extLst>
          </p:cNvPr>
          <p:cNvSpPr txBox="1">
            <a:spLocks/>
          </p:cNvSpPr>
          <p:nvPr/>
        </p:nvSpPr>
        <p:spPr>
          <a:xfrm>
            <a:off x="825790" y="90382"/>
            <a:ext cx="10972440" cy="765338"/>
          </a:xfrm>
          <a:prstGeom prst="rect">
            <a:avLst/>
          </a:prstGeom>
        </p:spPr>
        <p:txBody>
          <a:bodyPr vert="horz" lIns="91440" tIns="45720" rIns="91440" bIns="45720" rtlCol="0" anchor="b" anchorCtr="0">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800" b="1">
                <a:latin typeface="Times New Roman" panose="02020603050405020304" pitchFamily="18" charset="0"/>
                <a:ea typeface="Times New Roman" panose="02020603050405020304" pitchFamily="18" charset="0"/>
              </a:rPr>
              <a:t>Step</a:t>
            </a:r>
            <a:r>
              <a:rPr lang="en-US" sz="1800" b="1" spc="-10">
                <a:latin typeface="Times New Roman" panose="02020603050405020304" pitchFamily="18" charset="0"/>
                <a:ea typeface="Times New Roman" panose="02020603050405020304" pitchFamily="18" charset="0"/>
              </a:rPr>
              <a:t> </a:t>
            </a:r>
            <a:r>
              <a:rPr lang="en-US" sz="1800" b="1">
                <a:latin typeface="Times New Roman" panose="02020603050405020304" pitchFamily="18" charset="0"/>
                <a:ea typeface="Times New Roman" panose="02020603050405020304" pitchFamily="18" charset="0"/>
              </a:rPr>
              <a:t>6:Plotting</a:t>
            </a:r>
            <a:r>
              <a:rPr lang="en-US" sz="1800" b="1" spc="-10">
                <a:latin typeface="Times New Roman" panose="02020603050405020304" pitchFamily="18" charset="0"/>
                <a:ea typeface="Times New Roman" panose="02020603050405020304" pitchFamily="18" charset="0"/>
              </a:rPr>
              <a:t> </a:t>
            </a:r>
            <a:r>
              <a:rPr lang="en-US" sz="1800" b="1">
                <a:latin typeface="Times New Roman" panose="02020603050405020304" pitchFamily="18" charset="0"/>
                <a:ea typeface="Times New Roman" panose="02020603050405020304" pitchFamily="18" charset="0"/>
              </a:rPr>
              <a:t>Scatterplots</a:t>
            </a:r>
            <a:endParaRPr lang="en-IN" sz="1800" b="1">
              <a:latin typeface="Times New Roman" panose="02020603050405020304" pitchFamily="18" charset="0"/>
              <a:ea typeface="Times New Roman" panose="02020603050405020304" pitchFamily="18" charset="0"/>
            </a:endParaRPr>
          </a:p>
          <a:p>
            <a:endParaRPr lang="en-IN" dirty="0"/>
          </a:p>
        </p:txBody>
      </p:sp>
      <p:pic>
        <p:nvPicPr>
          <p:cNvPr id="7" name="image22.jpeg">
            <a:extLst>
              <a:ext uri="{FF2B5EF4-FFF2-40B4-BE49-F238E27FC236}">
                <a16:creationId xmlns:a16="http://schemas.microsoft.com/office/drawing/2014/main" id="{DBD267ED-C2CB-9791-F4DE-1469ADFA7318}"/>
              </a:ext>
            </a:extLst>
          </p:cNvPr>
          <p:cNvPicPr>
            <a:picLocks noChangeAspect="1"/>
          </p:cNvPicPr>
          <p:nvPr/>
        </p:nvPicPr>
        <p:blipFill>
          <a:blip r:embed="rId2" cstate="print"/>
          <a:stretch>
            <a:fillRect/>
          </a:stretch>
        </p:blipFill>
        <p:spPr>
          <a:xfrm>
            <a:off x="825790" y="377841"/>
            <a:ext cx="5112894" cy="3132276"/>
          </a:xfrm>
          <a:prstGeom prst="rect">
            <a:avLst/>
          </a:prstGeom>
        </p:spPr>
      </p:pic>
      <p:pic>
        <p:nvPicPr>
          <p:cNvPr id="8" name="image26.jpeg">
            <a:extLst>
              <a:ext uri="{FF2B5EF4-FFF2-40B4-BE49-F238E27FC236}">
                <a16:creationId xmlns:a16="http://schemas.microsoft.com/office/drawing/2014/main" id="{61842630-DF3A-064C-DFB2-8E18E44CE68D}"/>
              </a:ext>
            </a:extLst>
          </p:cNvPr>
          <p:cNvPicPr>
            <a:picLocks noChangeAspect="1"/>
          </p:cNvPicPr>
          <p:nvPr/>
        </p:nvPicPr>
        <p:blipFill>
          <a:blip r:embed="rId3" cstate="print"/>
          <a:stretch>
            <a:fillRect/>
          </a:stretch>
        </p:blipFill>
        <p:spPr>
          <a:xfrm>
            <a:off x="825790" y="3876659"/>
            <a:ext cx="5176530" cy="2603500"/>
          </a:xfrm>
          <a:prstGeom prst="rect">
            <a:avLst/>
          </a:prstGeom>
        </p:spPr>
      </p:pic>
      <p:pic>
        <p:nvPicPr>
          <p:cNvPr id="9" name="image27.jpeg">
            <a:extLst>
              <a:ext uri="{FF2B5EF4-FFF2-40B4-BE49-F238E27FC236}">
                <a16:creationId xmlns:a16="http://schemas.microsoft.com/office/drawing/2014/main" id="{F2FB98E6-C033-8178-3A40-FBFE37E7E1F0}"/>
              </a:ext>
            </a:extLst>
          </p:cNvPr>
          <p:cNvPicPr>
            <a:picLocks noChangeAspect="1"/>
          </p:cNvPicPr>
          <p:nvPr/>
        </p:nvPicPr>
        <p:blipFill>
          <a:blip r:embed="rId4" cstate="print"/>
          <a:stretch>
            <a:fillRect/>
          </a:stretch>
        </p:blipFill>
        <p:spPr>
          <a:xfrm>
            <a:off x="6447052" y="3815699"/>
            <a:ext cx="5590540" cy="2725420"/>
          </a:xfrm>
          <a:prstGeom prst="rect">
            <a:avLst/>
          </a:prstGeom>
        </p:spPr>
      </p:pic>
    </p:spTree>
    <p:extLst>
      <p:ext uri="{BB962C8B-B14F-4D97-AF65-F5344CB8AC3E}">
        <p14:creationId xmlns:p14="http://schemas.microsoft.com/office/powerpoint/2010/main" val="3272866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D6A43D-7D2D-2AF8-C399-5F16B8DEBB05}"/>
              </a:ext>
            </a:extLst>
          </p:cNvPr>
          <p:cNvSpPr>
            <a:spLocks noGrp="1"/>
          </p:cNvSpPr>
          <p:nvPr>
            <p:ph type="sldNum" sz="quarter" idx="4"/>
          </p:nvPr>
        </p:nvSpPr>
        <p:spPr/>
        <p:txBody>
          <a:bodyPr/>
          <a:lstStyle/>
          <a:p>
            <a:fld id="{58FB4751-880F-D840-AAA9-3A15815CC996}" type="slidenum">
              <a:rPr lang="en-US" smtClean="0"/>
              <a:pPr/>
              <a:t>49</a:t>
            </a:fld>
            <a:endParaRPr lang="en-US" dirty="0"/>
          </a:p>
        </p:txBody>
      </p:sp>
      <p:sp>
        <p:nvSpPr>
          <p:cNvPr id="7" name="TextBox 6">
            <a:extLst>
              <a:ext uri="{FF2B5EF4-FFF2-40B4-BE49-F238E27FC236}">
                <a16:creationId xmlns:a16="http://schemas.microsoft.com/office/drawing/2014/main" id="{0BC9B344-D490-E1E0-1A25-EF25B91EB530}"/>
              </a:ext>
            </a:extLst>
          </p:cNvPr>
          <p:cNvSpPr txBox="1"/>
          <p:nvPr/>
        </p:nvSpPr>
        <p:spPr>
          <a:xfrm>
            <a:off x="433277" y="139627"/>
            <a:ext cx="609777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8:Using Elbow</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curve</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method</a:t>
            </a:r>
            <a:endParaRPr lang="en-IN" b="1" dirty="0"/>
          </a:p>
        </p:txBody>
      </p:sp>
      <p:pic>
        <p:nvPicPr>
          <p:cNvPr id="8" name="image28.jpeg">
            <a:extLst>
              <a:ext uri="{FF2B5EF4-FFF2-40B4-BE49-F238E27FC236}">
                <a16:creationId xmlns:a16="http://schemas.microsoft.com/office/drawing/2014/main" id="{0E68CA1E-7DC3-8090-AB5D-A5156B3F0CC2}"/>
              </a:ext>
            </a:extLst>
          </p:cNvPr>
          <p:cNvPicPr>
            <a:picLocks noChangeAspect="1"/>
          </p:cNvPicPr>
          <p:nvPr/>
        </p:nvPicPr>
        <p:blipFill>
          <a:blip r:embed="rId2" cstate="print"/>
          <a:stretch>
            <a:fillRect/>
          </a:stretch>
        </p:blipFill>
        <p:spPr>
          <a:xfrm>
            <a:off x="433277" y="596712"/>
            <a:ext cx="4371340" cy="2346760"/>
          </a:xfrm>
          <a:prstGeom prst="rect">
            <a:avLst/>
          </a:prstGeom>
        </p:spPr>
      </p:pic>
      <p:sp>
        <p:nvSpPr>
          <p:cNvPr id="10" name="TextBox 9">
            <a:extLst>
              <a:ext uri="{FF2B5EF4-FFF2-40B4-BE49-F238E27FC236}">
                <a16:creationId xmlns:a16="http://schemas.microsoft.com/office/drawing/2014/main" id="{843BCA06-DDFF-D164-7E9B-5CB3206F202C}"/>
              </a:ext>
            </a:extLst>
          </p:cNvPr>
          <p:cNvSpPr txBox="1"/>
          <p:nvPr/>
        </p:nvSpPr>
        <p:spPr>
          <a:xfrm>
            <a:off x="433277" y="3031225"/>
            <a:ext cx="6097772" cy="646331"/>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Step</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9:Using</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K-Means</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Clustering(</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Final</a:t>
            </a:r>
            <a:r>
              <a:rPr lang="en-US" sz="1800" b="1" spc="-2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output)</a:t>
            </a:r>
            <a:br>
              <a:rPr lang="en-IN" sz="1800" b="1" dirty="0">
                <a:effectLst/>
                <a:latin typeface="Times New Roman" panose="02020603050405020304" pitchFamily="18" charset="0"/>
                <a:ea typeface="Times New Roman" panose="02020603050405020304" pitchFamily="18" charset="0"/>
              </a:rPr>
            </a:br>
            <a:endParaRPr lang="en-US" dirty="0"/>
          </a:p>
        </p:txBody>
      </p:sp>
      <p:pic>
        <p:nvPicPr>
          <p:cNvPr id="11" name="image29.jpeg">
            <a:extLst>
              <a:ext uri="{FF2B5EF4-FFF2-40B4-BE49-F238E27FC236}">
                <a16:creationId xmlns:a16="http://schemas.microsoft.com/office/drawing/2014/main" id="{729B827D-F905-B007-E85A-2727F488C737}"/>
              </a:ext>
            </a:extLst>
          </p:cNvPr>
          <p:cNvPicPr>
            <a:picLocks noChangeAspect="1"/>
          </p:cNvPicPr>
          <p:nvPr/>
        </p:nvPicPr>
        <p:blipFill>
          <a:blip r:embed="rId3" cstate="print"/>
          <a:stretch>
            <a:fillRect/>
          </a:stretch>
        </p:blipFill>
        <p:spPr>
          <a:xfrm>
            <a:off x="433277" y="3429000"/>
            <a:ext cx="10972440" cy="3140632"/>
          </a:xfrm>
          <a:prstGeom prst="rect">
            <a:avLst/>
          </a:prstGeom>
        </p:spPr>
      </p:pic>
    </p:spTree>
    <p:extLst>
      <p:ext uri="{BB962C8B-B14F-4D97-AF65-F5344CB8AC3E}">
        <p14:creationId xmlns:p14="http://schemas.microsoft.com/office/powerpoint/2010/main" val="1398075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8BB56E-0B55-28F3-B8FB-0D397026821E}"/>
              </a:ext>
            </a:extLst>
          </p:cNvPr>
          <p:cNvSpPr>
            <a:spLocks noGrp="1"/>
          </p:cNvSpPr>
          <p:nvPr>
            <p:ph type="sldNum" sz="quarter" idx="4"/>
          </p:nvPr>
        </p:nvSpPr>
        <p:spPr/>
        <p:txBody>
          <a:bodyPr/>
          <a:lstStyle/>
          <a:p>
            <a:fld id="{58FB4751-880F-D840-AAA9-3A15815CC996}" type="slidenum">
              <a:rPr lang="en-US" smtClean="0"/>
              <a:pPr/>
              <a:t>50</a:t>
            </a:fld>
            <a:endParaRPr lang="en-US" dirty="0"/>
          </a:p>
        </p:txBody>
      </p:sp>
      <p:sp>
        <p:nvSpPr>
          <p:cNvPr id="7" name="TextBox 6">
            <a:extLst>
              <a:ext uri="{FF2B5EF4-FFF2-40B4-BE49-F238E27FC236}">
                <a16:creationId xmlns:a16="http://schemas.microsoft.com/office/drawing/2014/main" id="{19E42EDE-1003-E3AA-4095-EB3291AF3505}"/>
              </a:ext>
            </a:extLst>
          </p:cNvPr>
          <p:cNvSpPr txBox="1"/>
          <p:nvPr/>
        </p:nvSpPr>
        <p:spPr>
          <a:xfrm>
            <a:off x="3133947" y="256585"/>
            <a:ext cx="6097772" cy="461665"/>
          </a:xfrm>
          <a:prstGeom prst="rect">
            <a:avLst/>
          </a:prstGeom>
          <a:noFill/>
        </p:spPr>
        <p:txBody>
          <a:bodyPr wrap="square">
            <a:spAutoFit/>
          </a:bodyPr>
          <a:lstStyle/>
          <a:p>
            <a:r>
              <a:rPr lang="en-US" sz="2400" b="1" dirty="0">
                <a:effectLst/>
                <a:latin typeface="Times New Roman" panose="02020603050405020304" pitchFamily="18" charset="0"/>
                <a:ea typeface="Times New Roman" panose="02020603050405020304" pitchFamily="18" charset="0"/>
              </a:rPr>
              <a:t>Using</a:t>
            </a:r>
            <a:r>
              <a:rPr lang="en-US" sz="2400" b="1" spc="-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K-Means</a:t>
            </a:r>
            <a:r>
              <a:rPr lang="en-US" sz="2400" b="1" spc="-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Clustering(</a:t>
            </a:r>
            <a:r>
              <a:rPr lang="en-US" sz="2400" b="1" spc="-1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Final</a:t>
            </a:r>
            <a:r>
              <a:rPr lang="en-US" sz="2400" b="1" spc="-2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output)</a:t>
            </a:r>
            <a:endParaRPr lang="en-US" sz="2400" dirty="0"/>
          </a:p>
        </p:txBody>
      </p:sp>
      <p:pic>
        <p:nvPicPr>
          <p:cNvPr id="8" name="image29.jpeg">
            <a:extLst>
              <a:ext uri="{FF2B5EF4-FFF2-40B4-BE49-F238E27FC236}">
                <a16:creationId xmlns:a16="http://schemas.microsoft.com/office/drawing/2014/main" id="{15C50322-D9D5-8693-FC9E-F2D5C663ED67}"/>
              </a:ext>
            </a:extLst>
          </p:cNvPr>
          <p:cNvPicPr>
            <a:picLocks noChangeAspect="1"/>
          </p:cNvPicPr>
          <p:nvPr/>
        </p:nvPicPr>
        <p:blipFill>
          <a:blip r:embed="rId2" cstate="print"/>
          <a:stretch>
            <a:fillRect/>
          </a:stretch>
        </p:blipFill>
        <p:spPr>
          <a:xfrm>
            <a:off x="1787586" y="1273392"/>
            <a:ext cx="8196786" cy="4606412"/>
          </a:xfrm>
          <a:prstGeom prst="rect">
            <a:avLst/>
          </a:prstGeom>
        </p:spPr>
      </p:pic>
    </p:spTree>
    <p:extLst>
      <p:ext uri="{BB962C8B-B14F-4D97-AF65-F5344CB8AC3E}">
        <p14:creationId xmlns:p14="http://schemas.microsoft.com/office/powerpoint/2010/main" val="10884663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1339702" y="648586"/>
            <a:ext cx="3870251" cy="5029200"/>
          </a:xfrm>
        </p:spPr>
        <p:txBody>
          <a:bodyPr/>
          <a:lstStyle/>
          <a:p>
            <a:r>
              <a:rPr lang="en-US" b="1"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5879804" y="1887279"/>
            <a:ext cx="5166573" cy="2514600"/>
          </a:xfrm>
        </p:spPr>
        <p:txBody>
          <a:bodyPr anchor="ctr"/>
          <a:lstStyle/>
          <a:p>
            <a:r>
              <a:rPr lang="en-US" b="1" dirty="0"/>
              <a:t>TEAM B02:-</a:t>
            </a:r>
          </a:p>
          <a:p>
            <a:r>
              <a:rPr lang="en-US" dirty="0"/>
              <a:t>1)M.Sanjana-21p71a6264</a:t>
            </a:r>
          </a:p>
          <a:p>
            <a:r>
              <a:rPr lang="en-US" dirty="0"/>
              <a:t>2)N.SANGEETHA-21P71A6263</a:t>
            </a:r>
          </a:p>
          <a:p>
            <a:r>
              <a:rPr lang="en-US" dirty="0"/>
              <a:t>3)V.SREEJA-21P71A6287</a:t>
            </a:r>
          </a:p>
          <a:p>
            <a:r>
              <a:rPr lang="en-US" dirty="0"/>
              <a:t>4)VARUN SINGH THAKUR-21P71A6296</a:t>
            </a:r>
            <a:br>
              <a:rPr lang="en-US" dirty="0"/>
            </a:br>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{BDD3296E-AF8A-4F35-833F-B0C3AED39A8C}tf11964407_win32</Template>
  <TotalTime>263</TotalTime>
  <Words>1794</Words>
  <Application>Microsoft Office PowerPoint</Application>
  <PresentationFormat>Widescreen</PresentationFormat>
  <Paragraphs>273</Paragraphs>
  <Slides>51</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Calibri</vt:lpstr>
      <vt:lpstr>Courier New</vt:lpstr>
      <vt:lpstr>Gill Sans Nova Light</vt:lpstr>
      <vt:lpstr>Libre Franklin</vt:lpstr>
      <vt:lpstr>Sagona Book</vt:lpstr>
      <vt:lpstr>Times New Roman</vt:lpstr>
      <vt:lpstr>Wingdings</vt:lpstr>
      <vt:lpstr>Custom</vt:lpstr>
      <vt:lpstr>CUSTOMER SEGMENTATION ANALYSIS FOR IMPROVING SALES USING CLUSTERING </vt:lpstr>
      <vt:lpstr>REVIEW -1</vt:lpstr>
      <vt:lpstr>TOPICS</vt:lpstr>
      <vt:lpstr>INTRODUCTION</vt:lpstr>
      <vt:lpstr>INTRODUCTION</vt:lpstr>
      <vt:lpstr>ABSTRACT</vt:lpstr>
      <vt:lpstr>ABSTRACT</vt:lpstr>
      <vt:lpstr>LITERATURE SURVEY</vt:lpstr>
      <vt:lpstr>LITERATURE SURVEY</vt:lpstr>
      <vt:lpstr>EXSISTING SYSTEM</vt:lpstr>
      <vt:lpstr>EXSISTING SURVEY</vt:lpstr>
      <vt:lpstr>DISADVANTAGES OF EXSISTING SYSTEM</vt:lpstr>
      <vt:lpstr>DISADVANTAGES OF EXSISTING SYSTEM</vt:lpstr>
      <vt:lpstr>PROPOSED SYSTEMS</vt:lpstr>
      <vt:lpstr>PROPOSED  SYSTEM</vt:lpstr>
      <vt:lpstr>ADVANTAGES OF PROPOSED SYSTEM</vt:lpstr>
      <vt:lpstr>ADVANTAGES OF PROPOSED SYSTEM</vt:lpstr>
      <vt:lpstr>REVIEW-2</vt:lpstr>
      <vt:lpstr>TOPICS</vt:lpstr>
      <vt:lpstr>ARCHITECTURE</vt:lpstr>
      <vt:lpstr>ARCHITECTURE</vt:lpstr>
      <vt:lpstr>DATAFLOW DIAGRAM</vt:lpstr>
      <vt:lpstr>DATA FLOW DIAGRAM</vt:lpstr>
      <vt:lpstr>ALGORITHM</vt:lpstr>
      <vt:lpstr>ALGORITHM</vt:lpstr>
      <vt:lpstr>LIBRARIES AND ALGORITHM USED</vt:lpstr>
      <vt:lpstr>PowerPoint Presentation</vt:lpstr>
      <vt:lpstr>MODULE-1</vt:lpstr>
      <vt:lpstr>PowerPoint Presentation</vt:lpstr>
      <vt:lpstr>MODULE-2</vt:lpstr>
      <vt:lpstr>OUTPUT OF MODULE -2 </vt:lpstr>
      <vt:lpstr>MODULE-3</vt:lpstr>
      <vt:lpstr>OUTPUT OF MODULE-3</vt:lpstr>
      <vt:lpstr>MODULE-4</vt:lpstr>
      <vt:lpstr>PowerPoint Presentation</vt:lpstr>
      <vt:lpstr>PowerPoint Presentation</vt:lpstr>
      <vt:lpstr>PowerPoint Presentation</vt:lpstr>
      <vt:lpstr>REVIEW-3</vt:lpstr>
      <vt:lpstr>TOPICS</vt:lpstr>
      <vt:lpstr>FUNCTIONING OF MODULES</vt:lpstr>
      <vt:lpstr>DATA ANALYSIS AND DATA PREPROCESSING</vt:lpstr>
      <vt:lpstr>MODEL DEVELOPMENT</vt:lpstr>
      <vt:lpstr>MODEL DEPLOYMENT</vt:lpstr>
      <vt:lpstr>DATA VISUALIZATION</vt:lpstr>
      <vt:lpstr>EXECUTION</vt:lpstr>
      <vt:lpstr>PowerPoint Presentation</vt:lpstr>
      <vt:lpstr>PowerPoint Presentation</vt:lpstr>
      <vt:lpstr>Step 7:Plotting pairplots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sanjana</dc:creator>
  <cp:lastModifiedBy>m sanjana</cp:lastModifiedBy>
  <cp:revision>62</cp:revision>
  <dcterms:created xsi:type="dcterms:W3CDTF">2024-12-15T10:32:48Z</dcterms:created>
  <dcterms:modified xsi:type="dcterms:W3CDTF">2024-12-29T14:36:53Z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